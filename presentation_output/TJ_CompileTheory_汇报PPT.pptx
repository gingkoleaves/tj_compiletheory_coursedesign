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2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4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E583-F262-20F5-27A2-74C3987B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9E6B4-0A4E-1642-793B-2E5DF6164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F7097-1DD2-5D87-37CE-56A759D2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9873-F47F-791B-8D02-E2A4CF7ED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3D18-149C-6A09-5B84-F0F82F4E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1A355-278E-4A90-4157-6BAB4791C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5DF8B-4DED-38BA-0625-D9CB117E8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B92D-749C-57BE-BBE9-F7A4305B2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C2BB-2B31-12E5-F1A5-FE6B8728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23C26-C3FC-99E5-B996-8BA1826DC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C424A-1FEA-BE09-7783-FC5BF4250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D631-A9E7-6146-BC09-DDCF34D38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27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2BAC-CD04-269E-2B5F-6C372CE4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0A4B7-FCBA-A9EE-ED30-68C53D8F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A17F5-732D-0749-2464-E863C19EC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38FF-5D63-96CB-9892-5EA1BCBB9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4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B0C5-291F-EA7D-904C-43C164C9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0D2F6-017C-4622-A641-074396022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5F78-2055-5954-6C0E-5817CE701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87F1-1CBA-986B-149A-86F7AE985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89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类 Rust 词法与语法分析工具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1BD"/>
                </a:solidFill>
              </a:rPr>
              <a:t>设计与实现汇报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" y="3127248"/>
            <a:ext cx="1920240" cy="7315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4381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</a:rPr>
              <a:t>Lexer + Parser + </a:t>
            </a:r>
            <a:r>
              <a:rPr lang="en-US" altLang="zh-CN" sz="1500" dirty="0">
                <a:solidFill>
                  <a:srgbClr val="5B677A"/>
                </a:solidFill>
              </a:rPr>
              <a:t>Web</a:t>
            </a:r>
            <a:r>
              <a:rPr lang="en-US" sz="1500" dirty="0">
                <a:solidFill>
                  <a:srgbClr val="5B677A"/>
                </a:solidFill>
              </a:rPr>
              <a:t> Visualization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1243584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4" y="941832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/>
          <p:cNvSpPr/>
          <p:nvPr/>
        </p:nvSpPr>
        <p:spPr>
          <a:xfrm>
            <a:off x="8823960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64108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93858" y="5674861"/>
            <a:ext cx="1506524" cy="9389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</a:t>
            </a:r>
            <a:r>
              <a:rPr lang="zh-CN" altLang="en-US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endParaRPr lang="en-US" altLang="zh-CN" sz="12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白佳煜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2352733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胡桥健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2351295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庄子硕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2350998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5A07-30AD-8708-B5C0-740127E2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3DA957-508B-6780-E030-53183D53D6B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528DD-44D8-1564-A8D8-9531F85B152B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57E9A8-CBF8-1A8E-3217-1C66091045B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1</a:t>
            </a:r>
            <a:r>
              <a:rPr lang="zh-CN" altLang="en-US" sz="3400" b="1" dirty="0">
                <a:solidFill>
                  <a:srgbClr val="1F497D"/>
                </a:solidFill>
              </a:rPr>
              <a:t>、问题分析与总体设计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4109E8-D2C0-D436-3079-1F99EEF53440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375D3C-5412-F8F8-7C33-A359CB82EFB3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F3B39D9-B806-C5B2-D3B4-D07ACC163F85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C091AB-CA16-0DBF-C4DA-0696DDD80D03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F11476-F072-ACCA-94F2-863C3E0B9751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4254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作业目标与任务范围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从源码到结构化分析结果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70131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91640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实现类 Rust 语言的词法分析器，输出 Token 序列与词法错误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2400483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21992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实现语法分析器，识别课程要求的核心语法规则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930835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752344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构建可序列化 AST，便于命令行输出与前端展示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3461187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82696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 CLI 与 Web 页面两种使用方式，支持演示和调试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00208" y="1463040"/>
            <a:ext cx="3464032" cy="1581912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0208" y="1463040"/>
            <a:ext cx="3464032" cy="19850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1627" y="1691640"/>
            <a:ext cx="3009733" cy="39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聚焦范围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71627" y="2084831"/>
            <a:ext cx="3009733" cy="8781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词法分析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语法分析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可视化展示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00208" y="3602370"/>
            <a:ext cx="3537184" cy="1600566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0208" y="3602369"/>
            <a:ext cx="3537184" cy="174607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1221" y="3830970"/>
            <a:ext cx="3073291" cy="34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非核心范围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81221" y="4224161"/>
            <a:ext cx="3073291" cy="7410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完整类型系统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借用检查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代码生成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规则覆盖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</a:t>
            </a: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300" b="1" dirty="0" err="1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拆成三层实现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64208"/>
            <a:ext cx="34290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词法规则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关键字、标识符、数字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运算符、界符、分隔符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注释与结束符 #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37083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664208"/>
            <a:ext cx="34290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必做语法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函数、语句块、return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变量声明、赋值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表达式、if、while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11987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664208"/>
            <a:ext cx="34290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扩展语法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else / for / loop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引用、数组、元组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表达式块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1417320" y="4892040"/>
            <a:ext cx="2743200" cy="320040"/>
          </a:xfrm>
          <a:prstGeom prst="roundRect">
            <a:avLst>
              <a:gd name="adj" fmla="val 11429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965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4892040"/>
            <a:ext cx="2514600" cy="320040"/>
          </a:xfrm>
          <a:prstGeom prst="roundRect">
            <a:avLst>
              <a:gd name="adj" fmla="val 11429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49651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扩展语法：部分完成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54112" y="4892040"/>
            <a:ext cx="2651760" cy="320040"/>
          </a:xfrm>
          <a:prstGeom prst="roundRect">
            <a:avLst>
              <a:gd name="adj" fmla="val 11429"/>
            </a:avLst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4965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语义检查：后续方向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三层分析流水线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65960"/>
            <a:ext cx="201168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类 Rust 源码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文件或标准输入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965960"/>
            <a:ext cx="201168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Easy_Lexer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扫描字符流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生成 Token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569671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1965960"/>
            <a:ext cx="201168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Easy_Parser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7959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递归下降分析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构建 AST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8183879" y="1965960"/>
            <a:ext cx="2313907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965960"/>
            <a:ext cx="2313906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输出展示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59" y="2587752"/>
            <a:ext cx="21310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CLI JSON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Web </a:t>
            </a:r>
            <a:r>
              <a:rPr lang="en-US" sz="1260" dirty="0" err="1">
                <a:solidFill>
                  <a:srgbClr val="1F2933"/>
                </a:solidFill>
              </a:rPr>
              <a:t>可视化</a:t>
            </a:r>
            <a:r>
              <a:rPr lang="zh-CN" altLang="en-US" sz="1260" dirty="0">
                <a:solidFill>
                  <a:srgbClr val="1F2933"/>
                </a:solidFill>
              </a:rPr>
              <a:t>（</a:t>
            </a:r>
            <a:r>
              <a:rPr lang="en-US" altLang="zh-CN" sz="1260" dirty="0" err="1">
                <a:solidFill>
                  <a:srgbClr val="1F2933"/>
                </a:solidFill>
              </a:rPr>
              <a:t>Easy_Server</a:t>
            </a:r>
            <a:r>
              <a:rPr lang="en-US" altLang="zh-CN" sz="1260" dirty="0">
                <a:solidFill>
                  <a:srgbClr val="1F2933"/>
                </a:solidFill>
              </a:rPr>
              <a:t>)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279806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154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617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</a:rPr>
              <a:t>模块边界清晰：词法器只关心字符到 token，语法器只关心 token 到 AST，展示层只消费结构化结果。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1AF-F7EC-3D0E-6E39-549BABB6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7AEDCB-0F39-8D8A-6740-BC96581922F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B3AFF6-17E3-4A04-6A83-698F084A6E2C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42EC9-73BF-E92E-FFA3-D90D7AB064E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2</a:t>
            </a:r>
            <a:r>
              <a:rPr lang="zh-CN" altLang="en-US" sz="3400" b="1" dirty="0">
                <a:solidFill>
                  <a:srgbClr val="1F497D"/>
                </a:solidFill>
              </a:rPr>
              <a:t>、各模块具体设计与验证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730041-38AB-E912-5AFE-8F99A7AABF29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C52B49-8FBA-6629-A400-84685E3B3F6B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6C57AB-0A2D-CADA-103D-744B932F4F39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357DBC-887D-2D12-8857-CFBBCD0149A8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FF3CFE-F64C-DA0D-CDDB-5D6EAE7BF44A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3856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手写扫描器：最长匹配 + 位置信息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79222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45920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逐字符扫描，跳过空白符和注释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649224" y="2267712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121408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先识别标识符 / 数字，再处理复合符号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649224" y="274320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96896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每个 token 保存 kind、lexeme、line、column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49224" y="3218688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072384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遇到未知字符时记录错误，并尽量继续扫描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49224" y="3995928"/>
            <a:ext cx="141732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06908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类别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139696" y="406908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示例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49224" y="4416552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48970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关键字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139696" y="448970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fn / let / if / while / return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49224" y="4837176"/>
            <a:ext cx="141732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9103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算符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2066544" y="4837176"/>
            <a:ext cx="374904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4910328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+ - * / == &gt;= &lt;= !=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49224" y="5257800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533095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特殊符号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2066544" y="5257800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9696" y="533095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-&gt;  .  ..  #</a:t>
            </a:r>
            <a:endParaRPr lang="en-US" sz="104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1092994-3D19-C629-8FB5-3DB36BF4E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82"/>
          <a:stretch>
            <a:fillRect/>
          </a:stretch>
        </p:blipFill>
        <p:spPr>
          <a:xfrm>
            <a:off x="5297205" y="950976"/>
            <a:ext cx="6742613" cy="3948351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2066544" y="3995928"/>
            <a:ext cx="374904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6544" y="4416552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60E27BEE-FF8F-A981-E15F-0F1E6AE68D0F}"/>
              </a:ext>
            </a:extLst>
          </p:cNvPr>
          <p:cNvSpPr/>
          <p:nvPr/>
        </p:nvSpPr>
        <p:spPr>
          <a:xfrm>
            <a:off x="7476239" y="5093208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词法分析的状态转移图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词法分析效果示例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关键字边界与拆分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755648"/>
            <a:ext cx="685800" cy="29260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234440"/>
            <a:ext cx="14173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0759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输入片段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44968" y="1234440"/>
            <a:ext cx="18745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30759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类别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19488" y="1234440"/>
            <a:ext cx="242316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30759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7648" y="173736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105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if123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44968" y="173736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18105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identifier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19488" y="173736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1051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整体识别为标识符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7648" y="224028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1343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44968" y="224028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23134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keyword(if)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19488" y="224028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31343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关键字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274320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8163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44968" y="274320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8163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assign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19488" y="274320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81635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赋值号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324612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31927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123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44968" y="324612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31927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number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19488" y="324612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331927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5018" y="50819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F497D"/>
                </a:solidFill>
              </a:rPr>
              <a:t>既满足标识符规则，也满足作业中特别强调的</a:t>
            </a:r>
            <a:r>
              <a:rPr lang="en-US" sz="1550" b="1" dirty="0">
                <a:solidFill>
                  <a:srgbClr val="1F497D"/>
                </a:solidFill>
              </a:rPr>
              <a:t> `if=123` </a:t>
            </a:r>
            <a:r>
              <a:rPr lang="en-US" sz="1550" b="1" dirty="0" err="1">
                <a:solidFill>
                  <a:srgbClr val="1F497D"/>
                </a:solidFill>
              </a:rPr>
              <a:t>拆分要求</a:t>
            </a:r>
            <a:r>
              <a:rPr lang="en-US" sz="1550" b="1" dirty="0">
                <a:solidFill>
                  <a:srgbClr val="1F497D"/>
                </a:solidFill>
              </a:rPr>
              <a:t>。</a:t>
            </a:r>
            <a:endParaRPr lang="en-US" sz="155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B24F5F7-BB60-A73A-2F17-C59F9B2C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83678"/>
            <a:ext cx="5504253" cy="12951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C0FA7C4-01BD-17C7-8F02-60DACE52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64806"/>
            <a:ext cx="4009912" cy="1663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递归下降：按语法层次组织函数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280" y="174650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002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入口：parse_program_ast(tokens)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6280" y="220599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574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函数声明、语句块、语句、表达式分层解析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7586" y="2665476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146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表达式按优先级拆分：比较 &gt; 加减 &gt; 乘除 &gt; 一元 / 后缀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7586" y="314096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718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解析失败时返回带行列信息的 ParseError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502920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4671" y="3398452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264" y="3544756"/>
            <a:ext cx="4037892" cy="235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pub struct Program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functions: Vec&lt;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pub struct 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name: String,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params: Vec&lt;Binding&gt;,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#[serde(rename = "</a:t>
            </a:r>
            <a:r>
              <a:rPr lang="en-US" altLang="zh-CN" sz="1200" dirty="0" err="1">
                <a:solidFill>
                  <a:schemeClr val="bg1"/>
                </a:solidFill>
              </a:rPr>
              <a:t>returnType</a:t>
            </a:r>
            <a:r>
              <a:rPr lang="en-US" altLang="zh-CN" sz="1200" dirty="0">
                <a:solidFill>
                  <a:schemeClr val="bg1"/>
                </a:solidFill>
              </a:rPr>
              <a:t>")]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</a:t>
            </a:r>
            <a:r>
              <a:rPr lang="en-US" altLang="zh-CN" sz="1200" dirty="0" err="1">
                <a:solidFill>
                  <a:schemeClr val="bg1"/>
                </a:solidFill>
              </a:rPr>
              <a:t>return_type</a:t>
            </a:r>
            <a:r>
              <a:rPr lang="en-US" altLang="zh-CN" sz="1200" dirty="0">
                <a:solidFill>
                  <a:schemeClr val="bg1"/>
                </a:solidFill>
              </a:rPr>
              <a:t>: Option&lt;</a:t>
            </a:r>
            <a:r>
              <a:rPr lang="en-US" altLang="zh-CN" sz="1200" dirty="0" err="1">
                <a:solidFill>
                  <a:schemeClr val="bg1"/>
                </a:solidFill>
              </a:rPr>
              <a:t>TypeNode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body: Block,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64233" y="6172200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程序入口段代码</a:t>
            </a:r>
            <a:endParaRPr lang="en-US" sz="135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E885D8D-28C9-5EF4-745D-4B99108D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5" b="2250"/>
          <a:stretch>
            <a:fillRect/>
          </a:stretch>
        </p:blipFill>
        <p:spPr>
          <a:xfrm>
            <a:off x="7340436" y="557784"/>
            <a:ext cx="3861331" cy="5944785"/>
          </a:xfrm>
          <a:prstGeom prst="rect">
            <a:avLst/>
          </a:prstGeom>
        </p:spPr>
      </p:pic>
      <p:sp>
        <p:nvSpPr>
          <p:cNvPr id="24" name="Text 26">
            <a:extLst>
              <a:ext uri="{FF2B5EF4-FFF2-40B4-BE49-F238E27FC236}">
                <a16:creationId xmlns:a16="http://schemas.microsoft.com/office/drawing/2014/main" id="{C1A0A6EC-110B-B048-6007-F22A9B1F15F1}"/>
              </a:ext>
            </a:extLst>
          </p:cNvPr>
          <p:cNvSpPr/>
          <p:nvPr/>
        </p:nvSpPr>
        <p:spPr>
          <a:xfrm flipH="1">
            <a:off x="11273572" y="2251710"/>
            <a:ext cx="234335" cy="274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语法分析函数调用转移图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设计与输出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108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用结构化节点承接语法结果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490472"/>
            <a:ext cx="237744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Program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functions: Vec&lt;FunctionDecl&gt;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45643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490472"/>
            <a:ext cx="237744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Statement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3931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Let / Assign / 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While / For / Break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29107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490472"/>
            <a:ext cx="237744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Expr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Identifier / Number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Binary / Call / Array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12571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490472"/>
            <a:ext cx="237744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TypeNode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859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Named / Reference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Array / Tuple</a:t>
            </a:r>
            <a:endParaRPr lang="en-US" sz="126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F5921756-E0AC-BCFC-657A-182D7C7D4A74}"/>
              </a:ext>
            </a:extLst>
          </p:cNvPr>
          <p:cNvSpPr/>
          <p:nvPr/>
        </p:nvSpPr>
        <p:spPr>
          <a:xfrm>
            <a:off x="3414749" y="3116026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145A0514-50CC-D3B1-B7FB-C616E0366A4D}"/>
              </a:ext>
            </a:extLst>
          </p:cNvPr>
          <p:cNvSpPr/>
          <p:nvPr/>
        </p:nvSpPr>
        <p:spPr>
          <a:xfrm>
            <a:off x="3579341" y="3262330"/>
            <a:ext cx="4133681" cy="2489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pub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enum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Named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name: String,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Reference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mutable: bool,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ty: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Array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length: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usize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Tuple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elements: Vec&lt;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Unit,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C665E66-1B7E-D70E-1519-55D14191326D}"/>
              </a:ext>
            </a:extLst>
          </p:cNvPr>
          <p:cNvSpPr/>
          <p:nvPr/>
        </p:nvSpPr>
        <p:spPr>
          <a:xfrm>
            <a:off x="4714311" y="5889774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50" b="1" dirty="0" err="1">
                <a:solidFill>
                  <a:srgbClr val="1F497D"/>
                </a:solidFill>
              </a:rPr>
              <a:t>TypeNode</a:t>
            </a:r>
            <a:r>
              <a:rPr lang="zh-CN" altLang="en-US" sz="1350" b="1" dirty="0">
                <a:solidFill>
                  <a:srgbClr val="1F497D"/>
                </a:solidFill>
              </a:rPr>
              <a:t>结构设计展示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可视化功能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本地服务把分析过程变成可观察界面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08760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27432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后端接口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130552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Axum 服务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POST /api/analyze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58368" y="3182112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82112"/>
            <a:ext cx="27432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10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前端页面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803904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源码编辑区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Token 表 / AST 树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58368" y="4855464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855464"/>
            <a:ext cx="27432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084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错误反馈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5477256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词法错误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语法错误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4107794" y="1504187"/>
            <a:ext cx="7820970" cy="4700005"/>
          </a:xfrm>
          <a:prstGeom prst="roundRect">
            <a:avLst>
              <a:gd name="adj" fmla="val 1633"/>
            </a:avLst>
          </a:prstGeom>
          <a:solidFill>
            <a:srgbClr val="F2F6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3405" y="1604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界面布局</a:t>
            </a:r>
            <a:endParaRPr lang="en-US" sz="13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FF352D1-44D2-26AC-1FD9-A985F387C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05" y="1892808"/>
            <a:ext cx="7460402" cy="42289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核心模块测试已通过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E03DB801-5384-8751-2EED-ED843BB5E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29083"/>
              </p:ext>
            </p:extLst>
          </p:nvPr>
        </p:nvGraphicFramePr>
        <p:xfrm>
          <a:off x="502920" y="1570867"/>
          <a:ext cx="5677000" cy="213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500">
                  <a:extLst>
                    <a:ext uri="{9D8B030D-6E8A-4147-A177-3AD203B41FA5}">
                      <a16:colId xmlns:a16="http://schemas.microsoft.com/office/drawing/2014/main" val="2024018592"/>
                    </a:ext>
                  </a:extLst>
                </a:gridCol>
                <a:gridCol w="2838500">
                  <a:extLst>
                    <a:ext uri="{9D8B030D-6E8A-4147-A177-3AD203B41FA5}">
                      <a16:colId xmlns:a16="http://schemas.microsoft.com/office/drawing/2014/main" val="117041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测试内容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Easy_Lexer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5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</a:t>
                      </a:r>
                      <a:endParaRPr lang="en-US" altLang="zh-CN" sz="1400" dirty="0">
                        <a:solidFill>
                          <a:srgbClr val="1F2933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集成测试</a:t>
                      </a:r>
                      <a:endParaRPr lang="en-US" altLang="zh-CN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06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Easy_Parser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4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</a:t>
                      </a:r>
                      <a:endParaRPr lang="en-US" altLang="zh-CN" sz="1400" dirty="0">
                        <a:solidFill>
                          <a:srgbClr val="1F2933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集成测试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3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Easy_Server</a:t>
                      </a:r>
                      <a:endParaRPr lang="en-US" altLang="zh-CN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网页使用验证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83988"/>
                  </a:ext>
                </a:extLst>
              </a:tr>
            </a:tbl>
          </a:graphicData>
        </a:graphic>
      </p:graphicFrame>
      <p:pic>
        <p:nvPicPr>
          <p:cNvPr id="50" name="图片 49">
            <a:extLst>
              <a:ext uri="{FF2B5EF4-FFF2-40B4-BE49-F238E27FC236}">
                <a16:creationId xmlns:a16="http://schemas.microsoft.com/office/drawing/2014/main" id="{06FB46E0-71B9-72EF-E2F5-B71EB39F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953" y="716080"/>
            <a:ext cx="3650105" cy="2579868"/>
          </a:xfrm>
          <a:prstGeom prst="rect">
            <a:avLst/>
          </a:prstGeom>
        </p:spPr>
      </p:pic>
      <p:sp>
        <p:nvSpPr>
          <p:cNvPr id="51" name="Text 26">
            <a:extLst>
              <a:ext uri="{FF2B5EF4-FFF2-40B4-BE49-F238E27FC236}">
                <a16:creationId xmlns:a16="http://schemas.microsoft.com/office/drawing/2014/main" id="{A8FECB2E-3154-CD46-D0E0-DFEBDA601E89}"/>
              </a:ext>
            </a:extLst>
          </p:cNvPr>
          <p:cNvSpPr/>
          <p:nvPr/>
        </p:nvSpPr>
        <p:spPr>
          <a:xfrm>
            <a:off x="11188885" y="1023415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词法分析器测试结果</a:t>
            </a:r>
            <a:endParaRPr lang="en-US" sz="1200" dirty="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9B41AC2C-1A6A-7102-30CE-D179A6421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953" y="3562052"/>
            <a:ext cx="4463768" cy="2765596"/>
          </a:xfrm>
          <a:prstGeom prst="rect">
            <a:avLst/>
          </a:prstGeom>
        </p:spPr>
      </p:pic>
      <p:sp>
        <p:nvSpPr>
          <p:cNvPr id="54" name="Text 26">
            <a:extLst>
              <a:ext uri="{FF2B5EF4-FFF2-40B4-BE49-F238E27FC236}">
                <a16:creationId xmlns:a16="http://schemas.microsoft.com/office/drawing/2014/main" id="{F8065F02-72FD-6DAB-8C22-0B486C12F0CD}"/>
              </a:ext>
            </a:extLst>
          </p:cNvPr>
          <p:cNvSpPr/>
          <p:nvPr/>
        </p:nvSpPr>
        <p:spPr>
          <a:xfrm>
            <a:off x="11858721" y="3972454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语法分析器测试结果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A80A-8777-4712-E466-4E9A530C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8713D5-040D-1BDE-A084-649451B3CE51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549F4E-D19F-78B7-7D17-48AAF923F5BC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2B44C-58F0-4A92-6564-6E5519B323BB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A41272-F591-179A-9E06-2E1D15B249D5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70F883-3299-9F70-1158-9F1E75999D6A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3F6463-3E4B-3505-95D7-189012B6446D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B9E55A-03A3-2804-4A8D-0BB4FFA17360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5CC2FE-C563-D789-FC1F-E211EDDB52E8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A9BEDF57-FABF-029A-97B8-9433297B7378}"/>
              </a:ext>
            </a:extLst>
          </p:cNvPr>
          <p:cNvSpPr/>
          <p:nvPr/>
        </p:nvSpPr>
        <p:spPr>
          <a:xfrm>
            <a:off x="1775360" y="5798995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Token</a:t>
            </a:r>
            <a:r>
              <a:rPr lang="zh-CN" altLang="en-US" sz="1200" b="1" dirty="0">
                <a:solidFill>
                  <a:srgbClr val="1F497D"/>
                </a:solidFill>
              </a:rPr>
              <a:t>表效果演示</a:t>
            </a:r>
            <a:endParaRPr 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3B9A7CE-A921-EE99-AFB3-E18ACE6C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64" y="1470854"/>
            <a:ext cx="4092831" cy="42147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EAA29C-2D4C-0C00-7883-9702FCEDB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846" y="1517132"/>
            <a:ext cx="4603318" cy="3942607"/>
          </a:xfrm>
          <a:prstGeom prst="rect">
            <a:avLst/>
          </a:prstGeom>
        </p:spPr>
      </p:pic>
      <p:sp>
        <p:nvSpPr>
          <p:cNvPr id="16" name="Text 26">
            <a:extLst>
              <a:ext uri="{FF2B5EF4-FFF2-40B4-BE49-F238E27FC236}">
                <a16:creationId xmlns:a16="http://schemas.microsoft.com/office/drawing/2014/main" id="{470FC00B-14F7-3F9C-8A7A-B74C06B178C8}"/>
              </a:ext>
            </a:extLst>
          </p:cNvPr>
          <p:cNvSpPr/>
          <p:nvPr/>
        </p:nvSpPr>
        <p:spPr>
          <a:xfrm>
            <a:off x="7779692" y="578925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AST</a:t>
            </a:r>
            <a:r>
              <a:rPr lang="zh-CN" altLang="en-US" sz="1200" b="1" dirty="0">
                <a:solidFill>
                  <a:srgbClr val="1F497D"/>
                </a:solidFill>
              </a:rPr>
              <a:t>语法树效果演示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131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E94A-CA36-8DAD-8B9C-B0BD460A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1EF4F-2B75-9A6A-97E8-86E5B51DBEF5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BBFA42-40CB-C76A-3F8E-2CB7A45F8931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CDAA4C-B1B4-847D-EFE9-3A8619DA1385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A3A34F-3625-9307-1A4C-41D13FE5CEBB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D127A1-6328-DC47-FA70-1F428FD3CC57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49DD00-A3EE-7C68-3795-573779120618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98EF59-F1A0-6FFA-2D16-0C0BCE9BB477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3EE07B9-9B47-7F85-BC88-26F522119EF3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28C13F6-5B11-DB15-42FC-504121C5DCFD}"/>
              </a:ext>
            </a:extLst>
          </p:cNvPr>
          <p:cNvSpPr/>
          <p:nvPr/>
        </p:nvSpPr>
        <p:spPr>
          <a:xfrm>
            <a:off x="2268186" y="570822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词法分析报错</a:t>
            </a:r>
            <a:br>
              <a:rPr lang="en-US" altLang="zh-CN" sz="1200" b="1" dirty="0">
                <a:solidFill>
                  <a:srgbClr val="1F497D"/>
                </a:solidFill>
              </a:rPr>
            </a:br>
            <a:r>
              <a:rPr lang="zh-CN" altLang="en-US" sz="1200" b="1" dirty="0">
                <a:solidFill>
                  <a:srgbClr val="1F497D"/>
                </a:solidFill>
              </a:rPr>
              <a:t>（输入不能识别的中文字符）</a:t>
            </a:r>
            <a:endParaRPr lang="en-US" sz="12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DD3ABD62-D8DA-2B7F-73EF-165398C9F217}"/>
              </a:ext>
            </a:extLst>
          </p:cNvPr>
          <p:cNvSpPr/>
          <p:nvPr/>
        </p:nvSpPr>
        <p:spPr>
          <a:xfrm>
            <a:off x="8177516" y="5632704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语法分析报错</a:t>
            </a:r>
            <a:endParaRPr lang="en-US" altLang="zh-CN" sz="1200" b="1" dirty="0">
              <a:solidFill>
                <a:srgbClr val="1F497D"/>
              </a:solidFill>
            </a:endParaRPr>
          </a:p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（缺少；）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0E73E5-6422-768F-F7D9-50C58DCE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7644"/>
            <a:ext cx="5480464" cy="40821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0BA69FF-39AC-BACA-6D37-9BF6312F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96" y="1460665"/>
            <a:ext cx="5480464" cy="40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58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480B-F318-FFF1-C534-271320E1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87A5B3-632E-434F-56AE-2765111A3FB1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4CB800-8318-0E20-AE79-5AC8BF1BC081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AB40A5-759F-F116-3842-EC9D81024DF8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3</a:t>
            </a:r>
            <a:r>
              <a:rPr lang="zh-CN" altLang="en-US" sz="3400" b="1" dirty="0">
                <a:solidFill>
                  <a:srgbClr val="1F497D"/>
                </a:solidFill>
              </a:rPr>
              <a:t>、项目设计总结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451BD9-38A5-E2C9-B9C9-098008409197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A5875C-3D8F-7752-B8AB-374D961C0892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118717-5DAB-5149-6B73-066675DE99EB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3F64A5-54C2-78C0-1CDE-255D66C7B3B9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683FB9-CB47-82AF-436F-B3E5AC8EA97B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360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完成度对照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相对课程要求的完成情况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35024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182880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7647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模块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16459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76479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完成情况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71323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76479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说明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185416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585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词法分析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2185416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2258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2185416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225856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覆盖关键字、标识符、数字、符号、注释、结束符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679192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7523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必做语法规则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2679192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75234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679192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2752344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0.1 到 5.1 的核心规则均可解析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172968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246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AST 输出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3172968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2461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69080" y="3172968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3246120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JSON 输出，可被 CLI 和 Web 消费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3666744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7398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Web 可视化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3666744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7398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完成原型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69080" y="3666744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3739896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展示 Token 表、AST 树、错误信息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4160520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42336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扩展语法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23160" y="4160520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423367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部分完成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69080" y="4160520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423367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for / loop / 引用 / 数组 / 元组等语法支持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4360" y="4654296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727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语义检查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23160" y="4654296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47274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待完善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069080" y="4654296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42232" y="472744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变量声明、类型一致性、可变性检查未系统实现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8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完成一个可运行、可展示的分析工具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645" y="17465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544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完成词法分析、核心语法分析与 AST 输出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8645" y="2276856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084832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提供命令行和 Web 页面两种交互方式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645" y="28019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6098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后续可补充符号表、类型检查和 Web API 自动化测试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91440" cy="3291840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175441"/>
            <a:ext cx="290648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从源码到 Token，再到 AST 和可视化结果，项目完整贯通了编译前端的前两步。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772</Words>
  <Application>Microsoft Office PowerPoint</Application>
  <PresentationFormat>宽屏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同济大学 编译原理课程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 Rust 词法和语法分析工具设计与实现</dc:title>
  <dc:subject>类 Rust 词法和语法分析工具设计与实现</dc:subject>
  <dc:creator>TJ_CompileTheory</dc:creator>
  <cp:lastModifiedBy>佳煜 白</cp:lastModifiedBy>
  <cp:revision>11</cp:revision>
  <dcterms:created xsi:type="dcterms:W3CDTF">2026-05-14T02:58:19Z</dcterms:created>
  <dcterms:modified xsi:type="dcterms:W3CDTF">2026-05-14T03:54:17Z</dcterms:modified>
</cp:coreProperties>
</file>