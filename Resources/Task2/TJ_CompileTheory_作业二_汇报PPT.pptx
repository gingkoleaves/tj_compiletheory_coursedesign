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740" autoAdjust="0"/>
    <p:restoredTop sz="96233" autoAdjust="0"/>
  </p:normalViewPr>
  <p:slideViewPr>
    <p:cSldViewPr snapToGrid="0">
      <p:cViewPr>
        <p:scale>
          <a:sx n="100" d="100"/>
          <a:sy n="100" d="100"/>
        </p:scale>
        <p:origin x="1032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B16D8-210B-7B54-F3A7-5203E2C55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0BF7E-0E10-AE87-0D15-571CABB5A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069D0-E661-3573-E2A1-5FDF83941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8ECAB-81CC-BEF9-FD73-87FC1DA61A8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1884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0A8C442-EAA9-4EC6-84F6-900DA377B2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F90084-88A1-42FF-A0A2-5E5A998B6D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" cy="68580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5B0241-AD35-4D48-86C9-435FBA42ACEA}"/>
              </a:ext>
            </a:extLst>
          </p:cNvPr>
          <p:cNvSpPr>
            <a:spLocks noGrp="1"/>
          </p:cNvSpPr>
          <p:nvPr/>
        </p:nvSpPr>
        <p:spPr>
          <a:xfrm>
            <a:off x="1714500" y="0"/>
            <a:ext cx="13335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DA56FF-D558-4187-80D2-089B8BA9B76E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143000" cy="819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同济大学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编译原理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27D868-3A71-4C16-8DD7-DC46B1FCD099}"/>
              </a:ext>
            </a:extLst>
          </p:cNvPr>
          <p:cNvSpPr>
            <a:spLocks noGrp="1"/>
          </p:cNvSpPr>
          <p:nvPr/>
        </p:nvSpPr>
        <p:spPr>
          <a:xfrm>
            <a:off x="2381250" y="1219200"/>
            <a:ext cx="7810500" cy="1238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33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类 Rust 语言编译前端</a:t>
            </a:r>
          </a:p>
          <a:p>
            <a:pPr algn="l">
              <a:lnSpc>
                <a:spcPct val="112000"/>
              </a:lnSpc>
              <a:buNone/>
              <a:defRPr sz="33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与中间代码生成器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838C23-4B30-4105-931C-9726074FA843}"/>
              </a:ext>
            </a:extLst>
          </p:cNvPr>
          <p:cNvSpPr>
            <a:spLocks noGrp="1"/>
          </p:cNvSpPr>
          <p:nvPr/>
        </p:nvSpPr>
        <p:spPr>
          <a:xfrm>
            <a:off x="2419350" y="26479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词法分析、语法分析、语义分析与四元式生成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2AD313-6D0F-46DD-AF70-03D54224E7F7}"/>
              </a:ext>
            </a:extLst>
          </p:cNvPr>
          <p:cNvSpPr>
            <a:spLocks noGrp="1"/>
          </p:cNvSpPr>
          <p:nvPr/>
        </p:nvSpPr>
        <p:spPr>
          <a:xfrm>
            <a:off x="2400300" y="3429000"/>
            <a:ext cx="7620000" cy="19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35EA36-32D9-446D-9694-72B927B4BD7C}"/>
              </a:ext>
            </a:extLst>
          </p:cNvPr>
          <p:cNvSpPr>
            <a:spLocks noGrp="1"/>
          </p:cNvSpPr>
          <p:nvPr/>
        </p:nvSpPr>
        <p:spPr>
          <a:xfrm>
            <a:off x="2419350" y="3714750"/>
            <a:ext cx="120015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FFE3A4-FC00-49B8-9B10-7B7E36093848}"/>
              </a:ext>
            </a:extLst>
          </p:cNvPr>
          <p:cNvSpPr>
            <a:spLocks noGrp="1"/>
          </p:cNvSpPr>
          <p:nvPr/>
        </p:nvSpPr>
        <p:spPr>
          <a:xfrm>
            <a:off x="2514600" y="3762375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Lexer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4E746A-07F3-4F77-92FB-01887A0EC203}"/>
              </a:ext>
            </a:extLst>
          </p:cNvPr>
          <p:cNvSpPr>
            <a:spLocks noGrp="1"/>
          </p:cNvSpPr>
          <p:nvPr/>
        </p:nvSpPr>
        <p:spPr>
          <a:xfrm>
            <a:off x="3905250" y="3714750"/>
            <a:ext cx="120015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7AEE40-3896-49CD-B19E-E71AD3414BA1}"/>
              </a:ext>
            </a:extLst>
          </p:cNvPr>
          <p:cNvSpPr>
            <a:spLocks noGrp="1"/>
          </p:cNvSpPr>
          <p:nvPr/>
        </p:nvSpPr>
        <p:spPr>
          <a:xfrm>
            <a:off x="4000500" y="3762375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Parser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AE548C-CDFF-427A-B584-17DCD3ABFAE2}"/>
              </a:ext>
            </a:extLst>
          </p:cNvPr>
          <p:cNvSpPr>
            <a:spLocks noGrp="1"/>
          </p:cNvSpPr>
          <p:nvPr/>
        </p:nvSpPr>
        <p:spPr>
          <a:xfrm>
            <a:off x="5391150" y="3714750"/>
            <a:ext cx="1200150" cy="2667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9BBCBF-9897-4A11-BC79-7D79486C300F}"/>
              </a:ext>
            </a:extLst>
          </p:cNvPr>
          <p:cNvSpPr>
            <a:spLocks noGrp="1"/>
          </p:cNvSpPr>
          <p:nvPr/>
        </p:nvSpPr>
        <p:spPr>
          <a:xfrm>
            <a:off x="5486400" y="3762375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Analyzer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A5B287-6CF2-45EA-8C34-CB0BDBEE6277}"/>
              </a:ext>
            </a:extLst>
          </p:cNvPr>
          <p:cNvSpPr>
            <a:spLocks noGrp="1"/>
          </p:cNvSpPr>
          <p:nvPr/>
        </p:nvSpPr>
        <p:spPr>
          <a:xfrm>
            <a:off x="6877050" y="3714750"/>
            <a:ext cx="1200150" cy="2667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78DE2C-E892-422C-AD68-6CDBE52BB417}"/>
              </a:ext>
            </a:extLst>
          </p:cNvPr>
          <p:cNvSpPr>
            <a:spLocks noGrp="1"/>
          </p:cNvSpPr>
          <p:nvPr/>
        </p:nvSpPr>
        <p:spPr>
          <a:xfrm>
            <a:off x="6972300" y="3762375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Quadruples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EC698F-7D34-4ACA-8EDD-E96AFF29F979}"/>
              </a:ext>
            </a:extLst>
          </p:cNvPr>
          <p:cNvSpPr>
            <a:spLocks noGrp="1"/>
          </p:cNvSpPr>
          <p:nvPr/>
        </p:nvSpPr>
        <p:spPr>
          <a:xfrm>
            <a:off x="8362950" y="3714750"/>
            <a:ext cx="120015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26DC8B-304B-4502-B4AA-34AAB7282EDF}"/>
              </a:ext>
            </a:extLst>
          </p:cNvPr>
          <p:cNvSpPr>
            <a:spLocks noGrp="1"/>
          </p:cNvSpPr>
          <p:nvPr/>
        </p:nvSpPr>
        <p:spPr>
          <a:xfrm>
            <a:off x="8458200" y="3762375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F97D9405-63F8-1FD7-BB4C-778BDF266370}"/>
              </a:ext>
            </a:extLst>
          </p:cNvPr>
          <p:cNvSpPr/>
          <p:nvPr/>
        </p:nvSpPr>
        <p:spPr>
          <a:xfrm>
            <a:off x="10493858" y="5674861"/>
            <a:ext cx="1506524" cy="93898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小组成员</a:t>
            </a:r>
            <a:r>
              <a:rPr lang="zh-CN" altLang="en-US" sz="12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：</a:t>
            </a:r>
            <a:endParaRPr lang="en-US" altLang="zh-CN" sz="12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白佳煜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2352733</a:t>
            </a: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胡桥健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2351295</a:t>
            </a: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庄子硕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2350998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A4DC471-5297-0565-183A-E6571E6E0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714500" cy="164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6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7749FC0-8AB0-4512-8E5D-78B5F857E3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62ACDC-2189-4B05-AA85-96844B5169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CFFB22-2135-49BE-BA07-D67E80812CE4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142875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F45EFE-73E6-422D-9437-CBDA2B8A3FAF}"/>
              </a:ext>
            </a:extLst>
          </p:cNvPr>
          <p:cNvSpPr>
            <a:spLocks noGrp="1"/>
          </p:cNvSpPr>
          <p:nvPr/>
        </p:nvSpPr>
        <p:spPr>
          <a:xfrm>
            <a:off x="2381250" y="1581150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项目目标与整体架构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59C7DB-E7AD-4FA8-9654-B0834ABFE754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6191250" cy="285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26DAA3-75B5-4A8B-84C5-882F8DDD4770}"/>
              </a:ext>
            </a:extLst>
          </p:cNvPr>
          <p:cNvSpPr>
            <a:spLocks noGrp="1"/>
          </p:cNvSpPr>
          <p:nvPr/>
        </p:nvSpPr>
        <p:spPr>
          <a:xfrm>
            <a:off x="2400300" y="28575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1725" b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从类</a:t>
            </a:r>
            <a:r>
              <a:rPr sz="1725" b="0" dirty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 Rust </a:t>
            </a:r>
            <a:r>
              <a:rPr sz="1725" b="0" dirty="0" err="1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源程序出发，完成前端分析并生成可检查、可展示的中间代码</a:t>
            </a:r>
            <a:endParaRPr sz="1725" b="0" dirty="0">
              <a:solidFill>
                <a:srgbClr val="E8F0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F9A811-FD7B-4005-B644-CA4750DF3809}"/>
              </a:ext>
            </a:extLst>
          </p:cNvPr>
          <p:cNvSpPr>
            <a:spLocks noGrp="1"/>
          </p:cNvSpPr>
          <p:nvPr/>
        </p:nvSpPr>
        <p:spPr>
          <a:xfrm>
            <a:off x="10191750" y="619125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324395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DD3F41A1-FFF2-42E3-81D4-C71D09F23E66}"/>
              </a:ext>
            </a:extLst>
          </p:cNvPr>
          <p:cNvSpPr>
            <a:spLocks noGrp="1"/>
          </p:cNvSpPr>
          <p:nvPr/>
        </p:nvSpPr>
        <p:spPr>
          <a:xfrm>
            <a:off x="0" y="5715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3A741C-A527-4F4D-8FE4-D0D4086BEBF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01 / Scope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FF596A-BBC6-4C5D-896C-55959D8FC3F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作业目标与实现边界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CF19F5-A9B8-4D84-B2D5-7EF182C04B83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B16A2D-D2A8-47BC-90B1-EDAABD3ED2E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096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项目目标是满足课程</a:t>
            </a:r>
            <a:r>
              <a:rPr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 PPT </a:t>
            </a:r>
            <a:r>
              <a:rPr sz="1575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给出的类</a:t>
            </a:r>
            <a:r>
              <a:rPr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 Rust </a:t>
            </a:r>
            <a:r>
              <a:rPr sz="1575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规则</a:t>
            </a:r>
            <a:r>
              <a:rPr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并非</a:t>
            </a:r>
            <a:r>
              <a:rPr sz="1575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实现完整</a:t>
            </a:r>
            <a:r>
              <a:rPr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 Rust </a:t>
            </a:r>
            <a:r>
              <a:rPr sz="1575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编译器</a:t>
            </a:r>
            <a:r>
              <a:rPr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C63F0C-94F0-41D7-B583-10FBE42E01DA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6191250" cy="3143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作业一：完成 Lexer 与 Parser，输出 token 流与 JSON AST。</a:t>
            </a:r>
          </a:p>
          <a:p>
            <a:pPr algn="l">
              <a:lnSpc>
                <a:spcPct val="128000"/>
              </a:lnSpc>
              <a:buNone/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作业二：在 AST 基础上完成语义分析与四元式生成。</a:t>
            </a:r>
          </a:p>
          <a:p>
            <a:pPr algn="l">
              <a:lnSpc>
                <a:spcPct val="128000"/>
              </a:lnSpc>
              <a:buNone/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扩展规则按 PPT 要求实现到可验收程度。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27707-2270-4CF1-B565-2059DD1AC252}"/>
              </a:ext>
            </a:extLst>
          </p:cNvPr>
          <p:cNvSpPr>
            <a:spLocks noGrp="1"/>
          </p:cNvSpPr>
          <p:nvPr/>
        </p:nvSpPr>
        <p:spPr>
          <a:xfrm>
            <a:off x="7524750" y="1809749"/>
            <a:ext cx="3282950" cy="1038225"/>
          </a:xfrm>
          <a:prstGeom prst="rect">
            <a:avLst/>
          </a:prstGeom>
          <a:solidFill>
            <a:srgbClr val="EAF2FB"/>
          </a:solidFill>
          <a:ln w="9525">
            <a:solidFill>
              <a:srgbClr val="D6E2EF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1C6919-9D7F-4EA1-A93C-473BF1473560}"/>
              </a:ext>
            </a:extLst>
          </p:cNvPr>
          <p:cNvSpPr>
            <a:spLocks noGrp="1"/>
          </p:cNvSpPr>
          <p:nvPr/>
        </p:nvSpPr>
        <p:spPr>
          <a:xfrm>
            <a:off x="7524750" y="1809749"/>
            <a:ext cx="76200" cy="1038223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37F650-9CD1-4BF9-B91E-F80DAE74F4CA}"/>
              </a:ext>
            </a:extLst>
          </p:cNvPr>
          <p:cNvSpPr>
            <a:spLocks noGrp="1"/>
          </p:cNvSpPr>
          <p:nvPr/>
        </p:nvSpPr>
        <p:spPr>
          <a:xfrm>
            <a:off x="7715250" y="1981200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2FD0E5-E6C1-4FF1-B308-93C6E7DCF37B}"/>
              </a:ext>
            </a:extLst>
          </p:cNvPr>
          <p:cNvSpPr>
            <a:spLocks noGrp="1"/>
          </p:cNvSpPr>
          <p:nvPr/>
        </p:nvSpPr>
        <p:spPr>
          <a:xfrm>
            <a:off x="7715250" y="2343150"/>
            <a:ext cx="303530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类 Rust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源代码，覆盖函数、变量、表达式、控制流和复合类型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45D177-6CF1-4D9B-A916-42E41AFCDBCE}"/>
              </a:ext>
            </a:extLst>
          </p:cNvPr>
          <p:cNvSpPr>
            <a:spLocks noGrp="1"/>
          </p:cNvSpPr>
          <p:nvPr/>
        </p:nvSpPr>
        <p:spPr>
          <a:xfrm>
            <a:off x="7524750" y="3028950"/>
            <a:ext cx="3282950" cy="1038222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1E4014-0BA0-4292-88B4-63C02515FE8D}"/>
              </a:ext>
            </a:extLst>
          </p:cNvPr>
          <p:cNvSpPr>
            <a:spLocks noGrp="1"/>
          </p:cNvSpPr>
          <p:nvPr/>
        </p:nvSpPr>
        <p:spPr>
          <a:xfrm>
            <a:off x="7524750" y="3028949"/>
            <a:ext cx="76200" cy="1038221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C2AD1F-BCF2-4D80-BABD-0B68905816A2}"/>
              </a:ext>
            </a:extLst>
          </p:cNvPr>
          <p:cNvSpPr>
            <a:spLocks noGrp="1"/>
          </p:cNvSpPr>
          <p:nvPr/>
        </p:nvSpPr>
        <p:spPr>
          <a:xfrm>
            <a:off x="7715250" y="3200400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DB1400-D446-435B-A642-A3E299D7C574}"/>
              </a:ext>
            </a:extLst>
          </p:cNvPr>
          <p:cNvSpPr>
            <a:spLocks noGrp="1"/>
          </p:cNvSpPr>
          <p:nvPr/>
        </p:nvSpPr>
        <p:spPr>
          <a:xfrm>
            <a:off x="7715250" y="3562350"/>
            <a:ext cx="27622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语义错误列表与四元式中间代码，可在命令行和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Web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页面查看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E26D9E-31AE-4AF9-BFA1-BC1BF49853E6}"/>
              </a:ext>
            </a:extLst>
          </p:cNvPr>
          <p:cNvSpPr>
            <a:spLocks noGrp="1"/>
          </p:cNvSpPr>
          <p:nvPr/>
        </p:nvSpPr>
        <p:spPr>
          <a:xfrm>
            <a:off x="7524750" y="4248149"/>
            <a:ext cx="3282950" cy="1038221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9929B7-3076-4E05-ACFE-05CBE95F3D10}"/>
              </a:ext>
            </a:extLst>
          </p:cNvPr>
          <p:cNvSpPr>
            <a:spLocks noGrp="1"/>
          </p:cNvSpPr>
          <p:nvPr/>
        </p:nvSpPr>
        <p:spPr>
          <a:xfrm>
            <a:off x="7524750" y="4248150"/>
            <a:ext cx="76200" cy="103822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AA022D-6606-45CF-8FA1-B6094808C009}"/>
              </a:ext>
            </a:extLst>
          </p:cNvPr>
          <p:cNvSpPr>
            <a:spLocks noGrp="1"/>
          </p:cNvSpPr>
          <p:nvPr/>
        </p:nvSpPr>
        <p:spPr>
          <a:xfrm>
            <a:off x="7715250" y="4419600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1E2BBA-9CB6-47A4-830E-15AB659030E5}"/>
              </a:ext>
            </a:extLst>
          </p:cNvPr>
          <p:cNvSpPr>
            <a:spLocks noGrp="1"/>
          </p:cNvSpPr>
          <p:nvPr/>
        </p:nvSpPr>
        <p:spPr>
          <a:xfrm>
            <a:off x="7715250" y="4781550"/>
            <a:ext cx="2895600" cy="2571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不追求完整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Rust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所有权、生命周期、泛型和复杂运行时检查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C83F6E-7F16-4858-9E1D-E77261B0962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18C2F54-0E97-4397-8D6F-0783C37AD382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3B9934-04E9-4F00-BE22-F4E3C4BFAC34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533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B377A2DD-CC80-44C7-822F-785C937146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240314-C7DF-4E6B-9396-2E2CE4B82A11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01 / Architecture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994688-EB52-45D4-AB81-7694288A6844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5A7D81-50C9-4F4B-B9D9-1E94F3A83122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E074AB-B9B8-42BE-B693-5DF35E5AB3AC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619250" cy="81915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30DE3A-0309-4225-8C0E-0C52EFC498A5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Easy_Lexer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F95EEF-813A-429D-9E43-282C5F9924DA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源代码 -&gt; token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990E77-0D2E-474C-8CD3-AF305A7B6F0A}"/>
              </a:ext>
            </a:extLst>
          </p:cNvPr>
          <p:cNvSpPr>
            <a:spLocks noGrp="1"/>
          </p:cNvSpPr>
          <p:nvPr/>
        </p:nvSpPr>
        <p:spPr>
          <a:xfrm>
            <a:off x="2295525" y="2511425"/>
            <a:ext cx="4381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9F5094-1EC4-45EF-8914-1567B0E5F583}"/>
              </a:ext>
            </a:extLst>
          </p:cNvPr>
          <p:cNvSpPr>
            <a:spLocks noGrp="1"/>
          </p:cNvSpPr>
          <p:nvPr/>
        </p:nvSpPr>
        <p:spPr>
          <a:xfrm>
            <a:off x="2724150" y="23717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06918B-3365-4D3B-9556-45BF2CCFB4B8}"/>
              </a:ext>
            </a:extLst>
          </p:cNvPr>
          <p:cNvSpPr>
            <a:spLocks noGrp="1"/>
          </p:cNvSpPr>
          <p:nvPr/>
        </p:nvSpPr>
        <p:spPr>
          <a:xfrm>
            <a:off x="2905125" y="2095500"/>
            <a:ext cx="1619250" cy="81915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8B7134-BBFD-4A26-9483-D1C66C768AD3}"/>
              </a:ext>
            </a:extLst>
          </p:cNvPr>
          <p:cNvSpPr>
            <a:spLocks noGrp="1"/>
          </p:cNvSpPr>
          <p:nvPr/>
        </p:nvSpPr>
        <p:spPr>
          <a:xfrm>
            <a:off x="3019425" y="2238375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Easy_Parser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BBBF3A-72AE-442C-B537-BC7D4E1A78E1}"/>
              </a:ext>
            </a:extLst>
          </p:cNvPr>
          <p:cNvSpPr>
            <a:spLocks noGrp="1"/>
          </p:cNvSpPr>
          <p:nvPr/>
        </p:nvSpPr>
        <p:spPr>
          <a:xfrm>
            <a:off x="3038475" y="2552700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token -&gt; AST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223E84-8E49-4BB7-8910-A331386FA5DC}"/>
              </a:ext>
            </a:extLst>
          </p:cNvPr>
          <p:cNvSpPr>
            <a:spLocks noGrp="1"/>
          </p:cNvSpPr>
          <p:nvPr/>
        </p:nvSpPr>
        <p:spPr>
          <a:xfrm>
            <a:off x="4548188" y="2511425"/>
            <a:ext cx="4381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773C86-C7D8-4373-B102-0C5F0B3505EE}"/>
              </a:ext>
            </a:extLst>
          </p:cNvPr>
          <p:cNvSpPr>
            <a:spLocks noGrp="1"/>
          </p:cNvSpPr>
          <p:nvPr/>
        </p:nvSpPr>
        <p:spPr>
          <a:xfrm>
            <a:off x="4962525" y="23717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D7D495-6C2E-4C46-AC4D-1DCA57FD6F40}"/>
              </a:ext>
            </a:extLst>
          </p:cNvPr>
          <p:cNvSpPr>
            <a:spLocks noGrp="1"/>
          </p:cNvSpPr>
          <p:nvPr/>
        </p:nvSpPr>
        <p:spPr>
          <a:xfrm>
            <a:off x="5143499" y="2095500"/>
            <a:ext cx="1952625" cy="819150"/>
          </a:xfrm>
          <a:prstGeom prst="rect">
            <a:avLst/>
          </a:prstGeom>
          <a:solidFill>
            <a:srgbClr val="EAF2FB"/>
          </a:solidFill>
          <a:ln w="19050">
            <a:solidFill>
              <a:srgbClr val="C00000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A905C8-2F23-4091-9BA8-CF18C37A62C6}"/>
              </a:ext>
            </a:extLst>
          </p:cNvPr>
          <p:cNvSpPr>
            <a:spLocks noGrp="1"/>
          </p:cNvSpPr>
          <p:nvPr/>
        </p:nvSpPr>
        <p:spPr>
          <a:xfrm>
            <a:off x="5257800" y="2238375"/>
            <a:ext cx="15811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Easy_Analyzer</a:t>
            </a:r>
            <a:endParaRPr sz="1575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0773CA-7645-48C2-B7A4-09C3F1069EAF}"/>
              </a:ext>
            </a:extLst>
          </p:cNvPr>
          <p:cNvSpPr>
            <a:spLocks noGrp="1"/>
          </p:cNvSpPr>
          <p:nvPr/>
        </p:nvSpPr>
        <p:spPr>
          <a:xfrm>
            <a:off x="5276850" y="2552700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AST -&gt; </a:t>
            </a:r>
            <a:r>
              <a:rPr sz="97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语义</a:t>
            </a:r>
            <a:r>
              <a:rPr sz="97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+ IR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46F114-2B9B-4E3E-B9DC-2041D88377C7}"/>
              </a:ext>
            </a:extLst>
          </p:cNvPr>
          <p:cNvSpPr>
            <a:spLocks noGrp="1"/>
          </p:cNvSpPr>
          <p:nvPr/>
        </p:nvSpPr>
        <p:spPr>
          <a:xfrm>
            <a:off x="7129463" y="2511425"/>
            <a:ext cx="4381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751D07-F64B-41FF-8069-DF4F062BB310}"/>
              </a:ext>
            </a:extLst>
          </p:cNvPr>
          <p:cNvSpPr>
            <a:spLocks noGrp="1"/>
          </p:cNvSpPr>
          <p:nvPr/>
        </p:nvSpPr>
        <p:spPr>
          <a:xfrm>
            <a:off x="7534275" y="23717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F8EA3D-B57D-450C-BC58-E615AE4176FF}"/>
              </a:ext>
            </a:extLst>
          </p:cNvPr>
          <p:cNvSpPr>
            <a:spLocks noGrp="1"/>
          </p:cNvSpPr>
          <p:nvPr/>
        </p:nvSpPr>
        <p:spPr>
          <a:xfrm>
            <a:off x="7715250" y="2095500"/>
            <a:ext cx="1619250" cy="81915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7A0B2B-1A90-4135-B12D-1E6B32EA9B15}"/>
              </a:ext>
            </a:extLst>
          </p:cNvPr>
          <p:cNvSpPr>
            <a:spLocks noGrp="1"/>
          </p:cNvSpPr>
          <p:nvPr/>
        </p:nvSpPr>
        <p:spPr>
          <a:xfrm>
            <a:off x="7829550" y="2238375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Easy_Server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14A568-4C9A-4242-91A2-84DE907B63B5}"/>
              </a:ext>
            </a:extLst>
          </p:cNvPr>
          <p:cNvSpPr>
            <a:spLocks noGrp="1"/>
          </p:cNvSpPr>
          <p:nvPr/>
        </p:nvSpPr>
        <p:spPr>
          <a:xfrm>
            <a:off x="7848600" y="2552700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本地服务接口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2499C3-5E0D-4F0D-966B-ADD36A628B47}"/>
              </a:ext>
            </a:extLst>
          </p:cNvPr>
          <p:cNvSpPr>
            <a:spLocks noGrp="1"/>
          </p:cNvSpPr>
          <p:nvPr/>
        </p:nvSpPr>
        <p:spPr>
          <a:xfrm>
            <a:off x="9353550" y="2511425"/>
            <a:ext cx="4381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591667-F63B-4C3C-A8E2-5DFD1BDEE3F5}"/>
              </a:ext>
            </a:extLst>
          </p:cNvPr>
          <p:cNvSpPr>
            <a:spLocks noGrp="1"/>
          </p:cNvSpPr>
          <p:nvPr/>
        </p:nvSpPr>
        <p:spPr>
          <a:xfrm>
            <a:off x="9772650" y="23717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9EA984-871F-4A41-B114-47FCEA9645F0}"/>
              </a:ext>
            </a:extLst>
          </p:cNvPr>
          <p:cNvSpPr>
            <a:spLocks noGrp="1"/>
          </p:cNvSpPr>
          <p:nvPr/>
        </p:nvSpPr>
        <p:spPr>
          <a:xfrm>
            <a:off x="9953625" y="2095500"/>
            <a:ext cx="1619250" cy="81915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97C145-D031-4B69-A63B-DBA9A94711D7}"/>
              </a:ext>
            </a:extLst>
          </p:cNvPr>
          <p:cNvSpPr>
            <a:spLocks noGrp="1"/>
          </p:cNvSpPr>
          <p:nvPr/>
        </p:nvSpPr>
        <p:spPr>
          <a:xfrm>
            <a:off x="10067925" y="2238375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index.html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18674D-4D5E-4253-81BE-3412C2EC2B40}"/>
              </a:ext>
            </a:extLst>
          </p:cNvPr>
          <p:cNvSpPr>
            <a:spLocks noGrp="1"/>
          </p:cNvSpPr>
          <p:nvPr/>
        </p:nvSpPr>
        <p:spPr>
          <a:xfrm>
            <a:off x="10086975" y="2552700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可视化展示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361523-3AE7-4177-A1D4-A7A586997944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3048000" cy="1285875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9273C91-9753-481B-9002-8A20E73D2DE4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76200" cy="12858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6EA2D1-790D-41BB-9342-5751B6E99C43}"/>
              </a:ext>
            </a:extLst>
          </p:cNvPr>
          <p:cNvSpPr>
            <a:spLocks noGrp="1"/>
          </p:cNvSpPr>
          <p:nvPr/>
        </p:nvSpPr>
        <p:spPr>
          <a:xfrm>
            <a:off x="971550" y="407670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模块职责清晰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F84B966-71B1-4471-94E4-9964A664E3BE}"/>
              </a:ext>
            </a:extLst>
          </p:cNvPr>
          <p:cNvSpPr>
            <a:spLocks noGrp="1"/>
          </p:cNvSpPr>
          <p:nvPr/>
        </p:nvSpPr>
        <p:spPr>
          <a:xfrm>
            <a:off x="971550" y="4438650"/>
            <a:ext cx="266700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四个 Rust crate 分别承担词法、语法、语义/IR 和 Web 服务职责。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6A4ED5-F506-4457-B7BA-C711BEC60449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3048000" cy="1285875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F74F58B-838D-46CF-9C5B-C8FC6BF00F1A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76200" cy="12858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B8A49C7-A287-4494-A6D9-0CCF53362CA4}"/>
              </a:ext>
            </a:extLst>
          </p:cNvPr>
          <p:cNvSpPr>
            <a:spLocks noGrp="1"/>
          </p:cNvSpPr>
          <p:nvPr/>
        </p:nvSpPr>
        <p:spPr>
          <a:xfrm>
            <a:off x="4495800" y="407670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作业二主体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C2437FD-0D67-43A9-9E4F-92CF07B001DF}"/>
              </a:ext>
            </a:extLst>
          </p:cNvPr>
          <p:cNvSpPr>
            <a:spLocks noGrp="1"/>
          </p:cNvSpPr>
          <p:nvPr/>
        </p:nvSpPr>
        <p:spPr>
          <a:xfrm>
            <a:off x="4495800" y="4438650"/>
            <a:ext cx="266700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Easy_Analyzer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是当前汇报</a:t>
            </a:r>
            <a:r>
              <a:rPr lang="zh-CN" altLang="en-US"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中心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检查类型、作用域、控制流与扩展规则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3010A15-D0E4-4FDC-AC4E-A7E09BBA26BE}"/>
              </a:ext>
            </a:extLst>
          </p:cNvPr>
          <p:cNvSpPr>
            <a:spLocks noGrp="1"/>
          </p:cNvSpPr>
          <p:nvPr/>
        </p:nvSpPr>
        <p:spPr>
          <a:xfrm>
            <a:off x="7829550" y="3905250"/>
            <a:ext cx="3048000" cy="1285875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31635C2-1D13-4A8D-9B12-35F43D44FA6C}"/>
              </a:ext>
            </a:extLst>
          </p:cNvPr>
          <p:cNvSpPr>
            <a:spLocks noGrp="1"/>
          </p:cNvSpPr>
          <p:nvPr/>
        </p:nvSpPr>
        <p:spPr>
          <a:xfrm>
            <a:off x="7829550" y="3905250"/>
            <a:ext cx="76200" cy="12858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1CC2BA-D241-49FE-8986-B7532C48B148}"/>
              </a:ext>
            </a:extLst>
          </p:cNvPr>
          <p:cNvSpPr>
            <a:spLocks noGrp="1"/>
          </p:cNvSpPr>
          <p:nvPr/>
        </p:nvSpPr>
        <p:spPr>
          <a:xfrm>
            <a:off x="8020050" y="407670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展示链路完整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2E1A3D8-30D8-4F93-851B-F1649878150C}"/>
              </a:ext>
            </a:extLst>
          </p:cNvPr>
          <p:cNvSpPr>
            <a:spLocks noGrp="1"/>
          </p:cNvSpPr>
          <p:nvPr/>
        </p:nvSpPr>
        <p:spPr>
          <a:xfrm>
            <a:off x="8020050" y="4438650"/>
            <a:ext cx="266700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同一份输入可同时查看 token、AST、semanticErrors 和 quadruples。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EEE9C31-0615-4FF0-84F5-49F489164F6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47DB42D-A15F-4204-BE80-5FD75E378FFF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9A46100-B5E2-4924-846D-42869553B8DA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1071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0779C45F-CC3B-438B-BD59-54AF774942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DC1D55-EC7D-4C45-B136-070613F47571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01 / Data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355F5F-37BA-4E98-B08A-00EE2F26D446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输入输出数据流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36838E-AB42-4560-AF6B-772C4134B42C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00D3F4-A0DD-43A6-8ED3-AAAEF83BCA21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238625" cy="1924050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A88213-36FD-4C78-B941-4DA1FAA60C82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3895725" cy="2305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fn</a:t>
            </a: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add(a:i32, b:i32) -&gt; i32 {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return a + b;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fn</a:t>
            </a: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mut x:i32 = 1;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x = add(x, 2);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9E04AA-040A-49F1-B707-A288726DDFF7}"/>
              </a:ext>
            </a:extLst>
          </p:cNvPr>
          <p:cNvSpPr>
            <a:spLocks noGrp="1"/>
          </p:cNvSpPr>
          <p:nvPr/>
        </p:nvSpPr>
        <p:spPr>
          <a:xfrm>
            <a:off x="5334000" y="1676400"/>
            <a:ext cx="1143000" cy="4762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8B7D11-2EB3-4570-AE55-C315285DBB07}"/>
              </a:ext>
            </a:extLst>
          </p:cNvPr>
          <p:cNvSpPr>
            <a:spLocks noGrp="1"/>
          </p:cNvSpPr>
          <p:nvPr/>
        </p:nvSpPr>
        <p:spPr>
          <a:xfrm>
            <a:off x="5429250" y="1752600"/>
            <a:ext cx="95250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5B6B1D-4FEC-4882-A782-ECD405DBD6C7}"/>
              </a:ext>
            </a:extLst>
          </p:cNvPr>
          <p:cNvSpPr>
            <a:spLocks noGrp="1"/>
          </p:cNvSpPr>
          <p:nvPr/>
        </p:nvSpPr>
        <p:spPr>
          <a:xfrm>
            <a:off x="6477000" y="1676400"/>
            <a:ext cx="1762125" cy="4762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85D7D7-B753-4839-8586-AE1F8C36B45A}"/>
              </a:ext>
            </a:extLst>
          </p:cNvPr>
          <p:cNvSpPr>
            <a:spLocks noGrp="1"/>
          </p:cNvSpPr>
          <p:nvPr/>
        </p:nvSpPr>
        <p:spPr>
          <a:xfrm>
            <a:off x="6572250" y="175260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5DB254-2A4C-41DE-B5E8-BCB2681AB5D7}"/>
              </a:ext>
            </a:extLst>
          </p:cNvPr>
          <p:cNvSpPr>
            <a:spLocks noGrp="1"/>
          </p:cNvSpPr>
          <p:nvPr/>
        </p:nvSpPr>
        <p:spPr>
          <a:xfrm>
            <a:off x="8239125" y="1676400"/>
            <a:ext cx="3143250" cy="4762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DAD4EE-96B2-4488-B9F0-583751CBE8FD}"/>
              </a:ext>
            </a:extLst>
          </p:cNvPr>
          <p:cNvSpPr>
            <a:spLocks noGrp="1"/>
          </p:cNvSpPr>
          <p:nvPr/>
        </p:nvSpPr>
        <p:spPr>
          <a:xfrm>
            <a:off x="8334375" y="175260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4E26B9-28C6-459B-AD9C-B9FA6F1D47DA}"/>
              </a:ext>
            </a:extLst>
          </p:cNvPr>
          <p:cNvSpPr>
            <a:spLocks noGrp="1"/>
          </p:cNvSpPr>
          <p:nvPr/>
        </p:nvSpPr>
        <p:spPr>
          <a:xfrm>
            <a:off x="5334000" y="21526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35DF3-D991-4194-A1A7-D8132E9981EA}"/>
              </a:ext>
            </a:extLst>
          </p:cNvPr>
          <p:cNvSpPr>
            <a:spLocks noGrp="1"/>
          </p:cNvSpPr>
          <p:nvPr/>
        </p:nvSpPr>
        <p:spPr>
          <a:xfrm>
            <a:off x="5429250" y="2228850"/>
            <a:ext cx="95250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Lexer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906ECA-CCC8-4633-8DE6-782CEF376730}"/>
              </a:ext>
            </a:extLst>
          </p:cNvPr>
          <p:cNvSpPr>
            <a:spLocks noGrp="1"/>
          </p:cNvSpPr>
          <p:nvPr/>
        </p:nvSpPr>
        <p:spPr>
          <a:xfrm>
            <a:off x="6477000" y="2152650"/>
            <a:ext cx="1762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1D0232-0759-4808-8985-8FBF69F5468E}"/>
              </a:ext>
            </a:extLst>
          </p:cNvPr>
          <p:cNvSpPr>
            <a:spLocks noGrp="1"/>
          </p:cNvSpPr>
          <p:nvPr/>
        </p:nvSpPr>
        <p:spPr>
          <a:xfrm>
            <a:off x="6572250" y="222885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Token 列表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4A0929-9FDB-45E7-B9A4-963A014C5F3D}"/>
              </a:ext>
            </a:extLst>
          </p:cNvPr>
          <p:cNvSpPr>
            <a:spLocks noGrp="1"/>
          </p:cNvSpPr>
          <p:nvPr/>
        </p:nvSpPr>
        <p:spPr>
          <a:xfrm>
            <a:off x="8239125" y="2152650"/>
            <a:ext cx="3143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B0E6D2-0F6C-4A0E-8BBA-DF885318E67F}"/>
              </a:ext>
            </a:extLst>
          </p:cNvPr>
          <p:cNvSpPr>
            <a:spLocks noGrp="1"/>
          </p:cNvSpPr>
          <p:nvPr/>
        </p:nvSpPr>
        <p:spPr>
          <a:xfrm>
            <a:off x="8334375" y="222885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识别关键字、标识符、整数、符号与位置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13745E-E2B5-4DBB-B9E0-609148843A1A}"/>
              </a:ext>
            </a:extLst>
          </p:cNvPr>
          <p:cNvSpPr>
            <a:spLocks noGrp="1"/>
          </p:cNvSpPr>
          <p:nvPr/>
        </p:nvSpPr>
        <p:spPr>
          <a:xfrm>
            <a:off x="5334000" y="2628900"/>
            <a:ext cx="1143000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21FEA7E-32DC-42F4-9552-76C8620A2CAE}"/>
              </a:ext>
            </a:extLst>
          </p:cNvPr>
          <p:cNvSpPr>
            <a:spLocks noGrp="1"/>
          </p:cNvSpPr>
          <p:nvPr/>
        </p:nvSpPr>
        <p:spPr>
          <a:xfrm>
            <a:off x="5429250" y="2705100"/>
            <a:ext cx="95250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Parser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2A099A-EFBF-4DB3-806C-63418EE3B943}"/>
              </a:ext>
            </a:extLst>
          </p:cNvPr>
          <p:cNvSpPr>
            <a:spLocks noGrp="1"/>
          </p:cNvSpPr>
          <p:nvPr/>
        </p:nvSpPr>
        <p:spPr>
          <a:xfrm>
            <a:off x="6477000" y="2628900"/>
            <a:ext cx="1762125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E65B27-E874-4734-A5D5-B75411545713}"/>
              </a:ext>
            </a:extLst>
          </p:cNvPr>
          <p:cNvSpPr>
            <a:spLocks noGrp="1"/>
          </p:cNvSpPr>
          <p:nvPr/>
        </p:nvSpPr>
        <p:spPr>
          <a:xfrm>
            <a:off x="6572250" y="270510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AST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C7522F7-4E9E-421D-88BE-A992C184FA14}"/>
              </a:ext>
            </a:extLst>
          </p:cNvPr>
          <p:cNvSpPr>
            <a:spLocks noGrp="1"/>
          </p:cNvSpPr>
          <p:nvPr/>
        </p:nvSpPr>
        <p:spPr>
          <a:xfrm>
            <a:off x="8239125" y="2628900"/>
            <a:ext cx="3143250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A9CBDF5-4969-4BCE-953C-DBC86275B5D9}"/>
              </a:ext>
            </a:extLst>
          </p:cNvPr>
          <p:cNvSpPr>
            <a:spLocks noGrp="1"/>
          </p:cNvSpPr>
          <p:nvPr/>
        </p:nvSpPr>
        <p:spPr>
          <a:xfrm>
            <a:off x="8334375" y="270510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形成函数、语句、表达式的结构化树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492CE84-6CA0-4804-83B4-F3516D6DB393}"/>
              </a:ext>
            </a:extLst>
          </p:cNvPr>
          <p:cNvSpPr>
            <a:spLocks noGrp="1"/>
          </p:cNvSpPr>
          <p:nvPr/>
        </p:nvSpPr>
        <p:spPr>
          <a:xfrm>
            <a:off x="5334000" y="31051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E4B035-7404-4DD4-A750-8C5AAE5D3A00}"/>
              </a:ext>
            </a:extLst>
          </p:cNvPr>
          <p:cNvSpPr>
            <a:spLocks noGrp="1"/>
          </p:cNvSpPr>
          <p:nvPr/>
        </p:nvSpPr>
        <p:spPr>
          <a:xfrm>
            <a:off x="5429250" y="3181350"/>
            <a:ext cx="95250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Analyzer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A6124AD-755C-4E05-9744-124FCB98D9D8}"/>
              </a:ext>
            </a:extLst>
          </p:cNvPr>
          <p:cNvSpPr>
            <a:spLocks noGrp="1"/>
          </p:cNvSpPr>
          <p:nvPr/>
        </p:nvSpPr>
        <p:spPr>
          <a:xfrm>
            <a:off x="6477000" y="3105150"/>
            <a:ext cx="1762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F72DA4-82D4-4DFF-BB9D-EB24A1F206C7}"/>
              </a:ext>
            </a:extLst>
          </p:cNvPr>
          <p:cNvSpPr>
            <a:spLocks noGrp="1"/>
          </p:cNvSpPr>
          <p:nvPr/>
        </p:nvSpPr>
        <p:spPr>
          <a:xfrm>
            <a:off x="6572250" y="318135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semanticErrors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994F703-1DB2-4BF4-B5D2-BA4499717E1E}"/>
              </a:ext>
            </a:extLst>
          </p:cNvPr>
          <p:cNvSpPr>
            <a:spLocks noGrp="1"/>
          </p:cNvSpPr>
          <p:nvPr/>
        </p:nvSpPr>
        <p:spPr>
          <a:xfrm>
            <a:off x="8239125" y="3105150"/>
            <a:ext cx="3143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DE216EF-5C5B-436D-BD0A-BD9F884118A6}"/>
              </a:ext>
            </a:extLst>
          </p:cNvPr>
          <p:cNvSpPr>
            <a:spLocks noGrp="1"/>
          </p:cNvSpPr>
          <p:nvPr/>
        </p:nvSpPr>
        <p:spPr>
          <a:xfrm>
            <a:off x="8334375" y="318135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收集类型、作用域、返回值等静态错误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DE76F1-4DB6-408E-9810-4C49901AFF50}"/>
              </a:ext>
            </a:extLst>
          </p:cNvPr>
          <p:cNvSpPr>
            <a:spLocks noGrp="1"/>
          </p:cNvSpPr>
          <p:nvPr/>
        </p:nvSpPr>
        <p:spPr>
          <a:xfrm>
            <a:off x="5334000" y="3581400"/>
            <a:ext cx="1143000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437C047-72B2-43FC-B8F8-3CA9D32E5E94}"/>
              </a:ext>
            </a:extLst>
          </p:cNvPr>
          <p:cNvSpPr>
            <a:spLocks noGrp="1"/>
          </p:cNvSpPr>
          <p:nvPr/>
        </p:nvSpPr>
        <p:spPr>
          <a:xfrm>
            <a:off x="5429250" y="3657600"/>
            <a:ext cx="95250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Analyzer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7D2C90C-DCBD-4657-BE9E-2903709A4B2C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1762125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ACAA02-F366-4210-B6E1-384EAFA8221C}"/>
              </a:ext>
            </a:extLst>
          </p:cNvPr>
          <p:cNvSpPr>
            <a:spLocks noGrp="1"/>
          </p:cNvSpPr>
          <p:nvPr/>
        </p:nvSpPr>
        <p:spPr>
          <a:xfrm>
            <a:off x="6572250" y="365760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quadruples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022ED1B-4A99-4BA7-B206-46BEF78603AB}"/>
              </a:ext>
            </a:extLst>
          </p:cNvPr>
          <p:cNvSpPr>
            <a:spLocks noGrp="1"/>
          </p:cNvSpPr>
          <p:nvPr/>
        </p:nvSpPr>
        <p:spPr>
          <a:xfrm>
            <a:off x="8239125" y="3581400"/>
            <a:ext cx="3143250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B1BAD78-FCAA-47FC-83D6-73504C47A90B}"/>
              </a:ext>
            </a:extLst>
          </p:cNvPr>
          <p:cNvSpPr>
            <a:spLocks noGrp="1"/>
          </p:cNvSpPr>
          <p:nvPr/>
        </p:nvSpPr>
        <p:spPr>
          <a:xfrm>
            <a:off x="8334375" y="365760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生成四元式供后续优化/目标代码使用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0BBF5C2-4578-4C3F-8E85-D8F43D63068B}"/>
              </a:ext>
            </a:extLst>
          </p:cNvPr>
          <p:cNvSpPr>
            <a:spLocks noGrp="1"/>
          </p:cNvSpPr>
          <p:nvPr/>
        </p:nvSpPr>
        <p:spPr>
          <a:xfrm>
            <a:off x="685800" y="6057900"/>
            <a:ext cx="4570355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同一份源程序沿着固定管线流动；越靠后，语义信息越丰富</a:t>
            </a:r>
            <a:endParaRPr sz="1350" b="1" dirty="0">
              <a:solidFill>
                <a:srgbClr val="085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E70CE8F-68B7-4CD9-8668-125C1ADD29F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2F3995B-F26E-461B-A513-E2DE5D7367EF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F772AA9-FC36-4E11-8C04-BFA3166C7268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A4B2E73F-0E66-5766-F1EE-BE27B32419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432" b="55441"/>
          <a:stretch>
            <a:fillRect/>
          </a:stretch>
        </p:blipFill>
        <p:spPr>
          <a:xfrm>
            <a:off x="1060770" y="4572000"/>
            <a:ext cx="3351840" cy="1147883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9C57787F-C995-57C0-EDFE-1538E2E1A5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611"/>
          <a:stretch>
            <a:fillRect/>
          </a:stretch>
        </p:blipFill>
        <p:spPr>
          <a:xfrm>
            <a:off x="9052815" y="4217490"/>
            <a:ext cx="1265890" cy="2074887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79104F6A-0F61-5583-9909-2CF9DC0E5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479" y="4172522"/>
            <a:ext cx="1740236" cy="2142113"/>
          </a:xfrm>
          <a:prstGeom prst="rect">
            <a:avLst/>
          </a:prstGeom>
        </p:spPr>
      </p:pic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537D543-04CA-EFCF-C7A2-273BADD065E0}"/>
              </a:ext>
            </a:extLst>
          </p:cNvPr>
          <p:cNvCxnSpPr>
            <a:cxnSpLocks/>
          </p:cNvCxnSpPr>
          <p:nvPr/>
        </p:nvCxnSpPr>
        <p:spPr>
          <a:xfrm>
            <a:off x="4547742" y="5164058"/>
            <a:ext cx="107228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47D89AA-EBF2-C534-0F37-74DD32195854}"/>
              </a:ext>
            </a:extLst>
          </p:cNvPr>
          <p:cNvCxnSpPr>
            <a:cxnSpLocks/>
          </p:cNvCxnSpPr>
          <p:nvPr/>
        </p:nvCxnSpPr>
        <p:spPr>
          <a:xfrm>
            <a:off x="7702984" y="5145941"/>
            <a:ext cx="107228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E0DEB4C-E76D-E42B-DD36-96FF5BDDDB8A}"/>
              </a:ext>
            </a:extLst>
          </p:cNvPr>
          <p:cNvSpPr txBox="1"/>
          <p:nvPr/>
        </p:nvSpPr>
        <p:spPr>
          <a:xfrm>
            <a:off x="4611089" y="5164058"/>
            <a:ext cx="101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Parser</a:t>
            </a:r>
            <a:endParaRPr lang="zh-CN" alt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66AA4BF-A6B9-5406-D6BC-EF323D09EC1B}"/>
              </a:ext>
            </a:extLst>
          </p:cNvPr>
          <p:cNvSpPr txBox="1"/>
          <p:nvPr/>
        </p:nvSpPr>
        <p:spPr>
          <a:xfrm>
            <a:off x="7737875" y="5173196"/>
            <a:ext cx="101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Analyzer</a:t>
            </a:r>
            <a:endParaRPr lang="zh-CN" alt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5A1EAE7-EA19-7FFA-C0E8-483998792897}"/>
              </a:ext>
            </a:extLst>
          </p:cNvPr>
          <p:cNvCxnSpPr>
            <a:cxnSpLocks/>
          </p:cNvCxnSpPr>
          <p:nvPr/>
        </p:nvCxnSpPr>
        <p:spPr>
          <a:xfrm>
            <a:off x="2805112" y="3781865"/>
            <a:ext cx="0" cy="6371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72E0DC35-2A06-4A12-DEE0-D69937F20208}"/>
              </a:ext>
            </a:extLst>
          </p:cNvPr>
          <p:cNvSpPr txBox="1"/>
          <p:nvPr/>
        </p:nvSpPr>
        <p:spPr>
          <a:xfrm>
            <a:off x="2767428" y="3898336"/>
            <a:ext cx="101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Lexer</a:t>
            </a:r>
            <a:endParaRPr lang="zh-CN" alt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418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B6FC9041-A900-4EC3-9A54-05E029FEB1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EE8082-974F-42BA-B525-03CD415C65A7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01 / Coverage Overview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87D29B-77B6-46FB-A514-31226009AE8D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规则覆盖总览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A0484B-0780-4535-8CC7-F444A90483F0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9ACC7C-91B4-4688-B72E-02ED2108287F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524000" cy="60960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F78999-1B3C-404A-A36F-ED4F1C4F20E2}"/>
              </a:ext>
            </a:extLst>
          </p:cNvPr>
          <p:cNvSpPr>
            <a:spLocks noGrp="1"/>
          </p:cNvSpPr>
          <p:nvPr/>
        </p:nvSpPr>
        <p:spPr>
          <a:xfrm>
            <a:off x="781050" y="16478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92D02C-BF4A-449C-860A-71BACBE213C0}"/>
              </a:ext>
            </a:extLst>
          </p:cNvPr>
          <p:cNvSpPr>
            <a:spLocks noGrp="1"/>
          </p:cNvSpPr>
          <p:nvPr/>
        </p:nvSpPr>
        <p:spPr>
          <a:xfrm>
            <a:off x="2209800" y="1571625"/>
            <a:ext cx="5905500" cy="60960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5CA1B3-BE7B-40AE-9241-E1FEEDEB3702}"/>
              </a:ext>
            </a:extLst>
          </p:cNvPr>
          <p:cNvSpPr>
            <a:spLocks noGrp="1"/>
          </p:cNvSpPr>
          <p:nvPr/>
        </p:nvSpPr>
        <p:spPr>
          <a:xfrm>
            <a:off x="2305050" y="16478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已覆盖内容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A632FC-DB95-44F4-8D02-3296B20DD060}"/>
              </a:ext>
            </a:extLst>
          </p:cNvPr>
          <p:cNvSpPr>
            <a:spLocks noGrp="1"/>
          </p:cNvSpPr>
          <p:nvPr/>
        </p:nvSpPr>
        <p:spPr>
          <a:xfrm>
            <a:off x="8115300" y="1571625"/>
            <a:ext cx="3143250" cy="60960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84A7BA-74B4-40F2-9C28-F5905C079686}"/>
              </a:ext>
            </a:extLst>
          </p:cNvPr>
          <p:cNvSpPr>
            <a:spLocks noGrp="1"/>
          </p:cNvSpPr>
          <p:nvPr/>
        </p:nvSpPr>
        <p:spPr>
          <a:xfrm>
            <a:off x="8210550" y="16478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9EB24E-BBF4-4251-BA71-21BD0DD449BE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524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1D5484-1BFF-4DC8-9F44-D7A760AED584}"/>
              </a:ext>
            </a:extLst>
          </p:cNvPr>
          <p:cNvSpPr>
            <a:spLocks noGrp="1"/>
          </p:cNvSpPr>
          <p:nvPr/>
        </p:nvSpPr>
        <p:spPr>
          <a:xfrm>
            <a:off x="781050" y="22574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基础程序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E30697-E329-4506-93E3-AEEF52445232}"/>
              </a:ext>
            </a:extLst>
          </p:cNvPr>
          <p:cNvSpPr>
            <a:spLocks noGrp="1"/>
          </p:cNvSpPr>
          <p:nvPr/>
        </p:nvSpPr>
        <p:spPr>
          <a:xfrm>
            <a:off x="2209800" y="2181225"/>
            <a:ext cx="5905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288865-F2A1-49B4-993D-335FA0839923}"/>
              </a:ext>
            </a:extLst>
          </p:cNvPr>
          <p:cNvSpPr>
            <a:spLocks noGrp="1"/>
          </p:cNvSpPr>
          <p:nvPr/>
        </p:nvSpPr>
        <p:spPr>
          <a:xfrm>
            <a:off x="2305050" y="22574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函数声明、参数、返回、空语句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1DEA9A-AE6D-4E2D-86EF-E04D88120913}"/>
              </a:ext>
            </a:extLst>
          </p:cNvPr>
          <p:cNvSpPr>
            <a:spLocks noGrp="1"/>
          </p:cNvSpPr>
          <p:nvPr/>
        </p:nvSpPr>
        <p:spPr>
          <a:xfrm>
            <a:off x="8115300" y="218122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5EE7B2-326A-487B-877D-B466CEDAA6AB}"/>
              </a:ext>
            </a:extLst>
          </p:cNvPr>
          <p:cNvSpPr>
            <a:spLocks noGrp="1"/>
          </p:cNvSpPr>
          <p:nvPr/>
        </p:nvSpPr>
        <p:spPr>
          <a:xfrm>
            <a:off x="8210550" y="22574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1.1-1.5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D9C5D0-FB24-4FED-802B-7F2F59FE3CCC}"/>
              </a:ext>
            </a:extLst>
          </p:cNvPr>
          <p:cNvSpPr>
            <a:spLocks noGrp="1"/>
          </p:cNvSpPr>
          <p:nvPr/>
        </p:nvSpPr>
        <p:spPr>
          <a:xfrm>
            <a:off x="685800" y="2790825"/>
            <a:ext cx="152400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D3441A1-E01B-4074-9CFE-9E32A15F7A89}"/>
              </a:ext>
            </a:extLst>
          </p:cNvPr>
          <p:cNvSpPr>
            <a:spLocks noGrp="1"/>
          </p:cNvSpPr>
          <p:nvPr/>
        </p:nvSpPr>
        <p:spPr>
          <a:xfrm>
            <a:off x="781050" y="28670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变量与赋值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80A18A-C792-4483-BA8A-B341AD99D395}"/>
              </a:ext>
            </a:extLst>
          </p:cNvPr>
          <p:cNvSpPr>
            <a:spLocks noGrp="1"/>
          </p:cNvSpPr>
          <p:nvPr/>
        </p:nvSpPr>
        <p:spPr>
          <a:xfrm>
            <a:off x="2209800" y="2790825"/>
            <a:ext cx="590550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DE2212-6609-4F16-ADA8-3FD4647A64AB}"/>
              </a:ext>
            </a:extLst>
          </p:cNvPr>
          <p:cNvSpPr>
            <a:spLocks noGrp="1"/>
          </p:cNvSpPr>
          <p:nvPr/>
        </p:nvSpPr>
        <p:spPr>
          <a:xfrm>
            <a:off x="2305050" y="28670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mut、i32、声明、shadowing、赋值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00EC6D-37B5-4A23-92AA-31E0C19DAA4C}"/>
              </a:ext>
            </a:extLst>
          </p:cNvPr>
          <p:cNvSpPr>
            <a:spLocks noGrp="1"/>
          </p:cNvSpPr>
          <p:nvPr/>
        </p:nvSpPr>
        <p:spPr>
          <a:xfrm>
            <a:off x="8115300" y="2790825"/>
            <a:ext cx="314325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838176-4D72-41EE-BB00-ABEABD1E2F9B}"/>
              </a:ext>
            </a:extLst>
          </p:cNvPr>
          <p:cNvSpPr>
            <a:spLocks noGrp="1"/>
          </p:cNvSpPr>
          <p:nvPr/>
        </p:nvSpPr>
        <p:spPr>
          <a:xfrm>
            <a:off x="8210550" y="28670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0.1-0.3, 2.0-2.2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9F2286-4C07-4D35-9C23-DF3ABE5C51DD}"/>
              </a:ext>
            </a:extLst>
          </p:cNvPr>
          <p:cNvSpPr>
            <a:spLocks noGrp="1"/>
          </p:cNvSpPr>
          <p:nvPr/>
        </p:nvSpPr>
        <p:spPr>
          <a:xfrm>
            <a:off x="685800" y="3400425"/>
            <a:ext cx="1524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E766B0-44BF-4B64-B4EB-64016A3CD83B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表达式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1E44EB-3EE3-4DB3-A70D-3EAB9BEC3A19}"/>
              </a:ext>
            </a:extLst>
          </p:cNvPr>
          <p:cNvSpPr>
            <a:spLocks noGrp="1"/>
          </p:cNvSpPr>
          <p:nvPr/>
        </p:nvSpPr>
        <p:spPr>
          <a:xfrm>
            <a:off x="2209800" y="3400425"/>
            <a:ext cx="5905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09FE6C9-EA3D-4EF2-A9C5-DB2AE2344347}"/>
              </a:ext>
            </a:extLst>
          </p:cNvPr>
          <p:cNvSpPr>
            <a:spLocks noGrp="1"/>
          </p:cNvSpPr>
          <p:nvPr/>
        </p:nvSpPr>
        <p:spPr>
          <a:xfrm>
            <a:off x="2305050" y="34766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基本表达式、比较、加减乘除、函数调用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D0B1C8-2F6E-4732-9CD3-882F8F1CB0D4}"/>
              </a:ext>
            </a:extLst>
          </p:cNvPr>
          <p:cNvSpPr>
            <a:spLocks noGrp="1"/>
          </p:cNvSpPr>
          <p:nvPr/>
        </p:nvSpPr>
        <p:spPr>
          <a:xfrm>
            <a:off x="8115300" y="340042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AB8B63-E294-42A8-BF54-20F04E36A734}"/>
              </a:ext>
            </a:extLst>
          </p:cNvPr>
          <p:cNvSpPr>
            <a:spLocks noGrp="1"/>
          </p:cNvSpPr>
          <p:nvPr/>
        </p:nvSpPr>
        <p:spPr>
          <a:xfrm>
            <a:off x="8210550" y="34766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3.1-3.5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DB8EF2B-EA8C-40F4-8A7A-75F90C2C41E8}"/>
              </a:ext>
            </a:extLst>
          </p:cNvPr>
          <p:cNvSpPr>
            <a:spLocks noGrp="1"/>
          </p:cNvSpPr>
          <p:nvPr/>
        </p:nvSpPr>
        <p:spPr>
          <a:xfrm>
            <a:off x="685800" y="4010025"/>
            <a:ext cx="152400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7149355-E8F2-4B89-A668-614F03A77E93}"/>
              </a:ext>
            </a:extLst>
          </p:cNvPr>
          <p:cNvSpPr>
            <a:spLocks noGrp="1"/>
          </p:cNvSpPr>
          <p:nvPr/>
        </p:nvSpPr>
        <p:spPr>
          <a:xfrm>
            <a:off x="781050" y="40862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控制流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8CF9093-8C1D-424C-84E7-0F038257767C}"/>
              </a:ext>
            </a:extLst>
          </p:cNvPr>
          <p:cNvSpPr>
            <a:spLocks noGrp="1"/>
          </p:cNvSpPr>
          <p:nvPr/>
        </p:nvSpPr>
        <p:spPr>
          <a:xfrm>
            <a:off x="2209800" y="4010025"/>
            <a:ext cx="590550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529BF89-3FC6-44D9-BACC-70A1BEE837F0}"/>
              </a:ext>
            </a:extLst>
          </p:cNvPr>
          <p:cNvSpPr>
            <a:spLocks noGrp="1"/>
          </p:cNvSpPr>
          <p:nvPr/>
        </p:nvSpPr>
        <p:spPr>
          <a:xfrm>
            <a:off x="2305050" y="40862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if、while、for、loop、break/continue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0EA8BA-7CE6-42DA-8034-C8588D2BAFD2}"/>
              </a:ext>
            </a:extLst>
          </p:cNvPr>
          <p:cNvSpPr>
            <a:spLocks noGrp="1"/>
          </p:cNvSpPr>
          <p:nvPr/>
        </p:nvSpPr>
        <p:spPr>
          <a:xfrm>
            <a:off x="8115300" y="4010025"/>
            <a:ext cx="314325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39DBE7D-CEF1-4638-8C05-69FAA30EF872}"/>
              </a:ext>
            </a:extLst>
          </p:cNvPr>
          <p:cNvSpPr>
            <a:spLocks noGrp="1"/>
          </p:cNvSpPr>
          <p:nvPr/>
        </p:nvSpPr>
        <p:spPr>
          <a:xfrm>
            <a:off x="8210550" y="40862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4.1, 5.0-5.4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270707C-6554-4C09-9989-31B5F8D06840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1524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966B4FB-2707-4867-AD21-6A841A9BDC0D}"/>
              </a:ext>
            </a:extLst>
          </p:cNvPr>
          <p:cNvSpPr>
            <a:spLocks noGrp="1"/>
          </p:cNvSpPr>
          <p:nvPr/>
        </p:nvSpPr>
        <p:spPr>
          <a:xfrm>
            <a:off x="781050" y="46958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复合/引用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A94E88A-18AD-407A-8786-979BC0CB5462}"/>
              </a:ext>
            </a:extLst>
          </p:cNvPr>
          <p:cNvSpPr>
            <a:spLocks noGrp="1"/>
          </p:cNvSpPr>
          <p:nvPr/>
        </p:nvSpPr>
        <p:spPr>
          <a:xfrm>
            <a:off x="2209800" y="4619625"/>
            <a:ext cx="5905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74A6AAB-9054-4596-B71E-611CF66945BA}"/>
              </a:ext>
            </a:extLst>
          </p:cNvPr>
          <p:cNvSpPr>
            <a:spLocks noGrp="1"/>
          </p:cNvSpPr>
          <p:nvPr/>
        </p:nvSpPr>
        <p:spPr>
          <a:xfrm>
            <a:off x="2305050" y="46958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引用、数组、元组、表达式块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E515FA9-7ABE-48A5-A2FB-A8547F165F05}"/>
              </a:ext>
            </a:extLst>
          </p:cNvPr>
          <p:cNvSpPr>
            <a:spLocks noGrp="1"/>
          </p:cNvSpPr>
          <p:nvPr/>
        </p:nvSpPr>
        <p:spPr>
          <a:xfrm>
            <a:off x="8115300" y="461962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5DB1C2C-EFDF-4697-8558-975DC0A28CCE}"/>
              </a:ext>
            </a:extLst>
          </p:cNvPr>
          <p:cNvSpPr>
            <a:spLocks noGrp="1"/>
          </p:cNvSpPr>
          <p:nvPr/>
        </p:nvSpPr>
        <p:spPr>
          <a:xfrm>
            <a:off x="8210550" y="46958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6.x, 7.x, 8.x, 9.x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4A82A7A-8C40-48B9-8E9C-9CB3659E4A91}"/>
              </a:ext>
            </a:extLst>
          </p:cNvPr>
          <p:cNvSpPr>
            <a:spLocks noGrp="1"/>
          </p:cNvSpPr>
          <p:nvPr/>
        </p:nvSpPr>
        <p:spPr>
          <a:xfrm>
            <a:off x="685800" y="5443537"/>
            <a:ext cx="6889750" cy="838200"/>
          </a:xfrm>
          <a:prstGeom prst="rect">
            <a:avLst/>
          </a:prstGeom>
          <a:solidFill>
            <a:srgbClr val="FFF8E9"/>
          </a:solidFill>
          <a:ln w="9525">
            <a:solidFill>
              <a:srgbClr val="D6E2EF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9B210F-EA95-46F9-9EAD-5FFA1D8D9B2B}"/>
              </a:ext>
            </a:extLst>
          </p:cNvPr>
          <p:cNvSpPr>
            <a:spLocks noGrp="1"/>
          </p:cNvSpPr>
          <p:nvPr/>
        </p:nvSpPr>
        <p:spPr>
          <a:xfrm>
            <a:off x="685800" y="5443537"/>
            <a:ext cx="76200" cy="838200"/>
          </a:xfrm>
          <a:prstGeom prst="rect">
            <a:avLst/>
          </a:prstGeom>
          <a:solidFill>
            <a:srgbClr val="F79646"/>
          </a:solidFill>
          <a:ln>
            <a:noFill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0D591F3-DD77-42C6-8019-ED621A9EDFD1}"/>
              </a:ext>
            </a:extLst>
          </p:cNvPr>
          <p:cNvSpPr>
            <a:spLocks noGrp="1"/>
          </p:cNvSpPr>
          <p:nvPr/>
        </p:nvSpPr>
        <p:spPr>
          <a:xfrm>
            <a:off x="876300" y="5514975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完成度判断</a:t>
            </a:r>
            <a:endParaRPr sz="16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2930B9-1256-4FD5-B164-12A843C8FAE0}"/>
              </a:ext>
            </a:extLst>
          </p:cNvPr>
          <p:cNvSpPr>
            <a:spLocks noGrp="1"/>
          </p:cNvSpPr>
          <p:nvPr/>
        </p:nvSpPr>
        <p:spPr>
          <a:xfrm>
            <a:off x="876300" y="5862638"/>
            <a:ext cx="628015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强制规则已由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requirements_coverage</a:t>
            </a:r>
            <a:r>
              <a:rPr sz="1200" b="1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和 </a:t>
            </a:r>
            <a:r>
              <a:rPr sz="1200" b="1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assignment2_ppt_matrix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测试覆盖</a:t>
            </a:r>
            <a:endParaRPr sz="12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69DDF4-8647-4891-A63F-15A44FAEBBC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0FFB379-9421-4D97-B51A-2D6C99531A5D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E90F6C3-2ABA-4A68-A97A-7DB9EA4C16BF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1039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D11882B-E83C-4D81-B029-87181632F0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2F5454-30A5-43B3-9D1B-96690749C6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9D852-713B-48BC-96EB-5DAF77C1BFC9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142875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7F22F2-E2F4-4E5F-9FED-3EEBEB559763}"/>
              </a:ext>
            </a:extLst>
          </p:cNvPr>
          <p:cNvSpPr>
            <a:spLocks noGrp="1"/>
          </p:cNvSpPr>
          <p:nvPr/>
        </p:nvSpPr>
        <p:spPr>
          <a:xfrm>
            <a:off x="2381250" y="1581150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作业二核心实现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373FF7-A20D-41FE-B205-530CBDA6C0B7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6191250" cy="285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A4F43F-4A23-477E-B5D1-5995791849CF}"/>
              </a:ext>
            </a:extLst>
          </p:cNvPr>
          <p:cNvSpPr>
            <a:spLocks noGrp="1"/>
          </p:cNvSpPr>
          <p:nvPr/>
        </p:nvSpPr>
        <p:spPr>
          <a:xfrm>
            <a:off x="2400300" y="28575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1725" b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Analyzer </a:t>
            </a:r>
            <a:r>
              <a:rPr sz="1725" b="0" dirty="0" err="1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同时承担静态语义检查和四元式中间代码生成，是作业二的核心</a:t>
            </a:r>
            <a:endParaRPr sz="1725" b="0" dirty="0">
              <a:solidFill>
                <a:srgbClr val="E8F0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864C2A-9D0B-4730-AA94-DBFBEE673D4E}"/>
              </a:ext>
            </a:extLst>
          </p:cNvPr>
          <p:cNvSpPr>
            <a:spLocks noGrp="1"/>
          </p:cNvSpPr>
          <p:nvPr/>
        </p:nvSpPr>
        <p:spPr>
          <a:xfrm>
            <a:off x="10191750" y="619125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1342866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0BBB09C6-9C1C-43B9-81B2-9FDA393A38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D9BA19-4B6B-428F-A65B-B608AACA1A24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Analyzer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C624D9-3FB2-4067-A4A6-C2EEE9C7522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语义分析整体流程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059197-BA60-4FBF-8865-6E948526EB67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B03AF6-9D8C-495D-8B12-E5D800422BFE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41910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ECE8DF-FCB5-421D-A64D-09968C601232}"/>
              </a:ext>
            </a:extLst>
          </p:cNvPr>
          <p:cNvSpPr>
            <a:spLocks noGrp="1"/>
          </p:cNvSpPr>
          <p:nvPr/>
        </p:nvSpPr>
        <p:spPr>
          <a:xfrm>
            <a:off x="971550" y="1685925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4945DC-3BBA-4662-B987-D8D5DF400618}"/>
              </a:ext>
            </a:extLst>
          </p:cNvPr>
          <p:cNvSpPr>
            <a:spLocks noGrp="1"/>
          </p:cNvSpPr>
          <p:nvPr/>
        </p:nvSpPr>
        <p:spPr>
          <a:xfrm>
            <a:off x="1466850" y="1600200"/>
            <a:ext cx="8001000" cy="53340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A27FDF-65AF-47A2-BE57-EC5BBE69C735}"/>
              </a:ext>
            </a:extLst>
          </p:cNvPr>
          <p:cNvSpPr>
            <a:spLocks noGrp="1"/>
          </p:cNvSpPr>
          <p:nvPr/>
        </p:nvSpPr>
        <p:spPr>
          <a:xfrm>
            <a:off x="1676400" y="16764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收集函数签名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2F750E-3243-4C9E-B951-505FE4B1F464}"/>
              </a:ext>
            </a:extLst>
          </p:cNvPr>
          <p:cNvSpPr>
            <a:spLocks noGrp="1"/>
          </p:cNvSpPr>
          <p:nvPr/>
        </p:nvSpPr>
        <p:spPr>
          <a:xfrm>
            <a:off x="4429125" y="169545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先记录函数名、参数类型、返回类型，支持调用时检查。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7AE1D7-9FD9-472D-B6C9-43090246841F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065616-A281-49B3-973D-7670FF517398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41910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937775-01BB-418F-A3CF-62E7433604A2}"/>
              </a:ext>
            </a:extLst>
          </p:cNvPr>
          <p:cNvSpPr>
            <a:spLocks noGrp="1"/>
          </p:cNvSpPr>
          <p:nvPr/>
        </p:nvSpPr>
        <p:spPr>
          <a:xfrm>
            <a:off x="971550" y="2466975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FF0D9D-5EFA-4078-96B4-F6D746EA87C0}"/>
              </a:ext>
            </a:extLst>
          </p:cNvPr>
          <p:cNvSpPr>
            <a:spLocks noGrp="1"/>
          </p:cNvSpPr>
          <p:nvPr/>
        </p:nvSpPr>
        <p:spPr>
          <a:xfrm>
            <a:off x="1466850" y="2381250"/>
            <a:ext cx="8001000" cy="53340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D25512-7F34-422F-88ED-AB50EDF8597E}"/>
              </a:ext>
            </a:extLst>
          </p:cNvPr>
          <p:cNvSpPr>
            <a:spLocks noGrp="1"/>
          </p:cNvSpPr>
          <p:nvPr/>
        </p:nvSpPr>
        <p:spPr>
          <a:xfrm>
            <a:off x="1676400" y="24574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检查入口与重复声明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029E9B-6F34-4A32-8556-E1604E9B212A}"/>
              </a:ext>
            </a:extLst>
          </p:cNvPr>
          <p:cNvSpPr>
            <a:spLocks noGrp="1"/>
          </p:cNvSpPr>
          <p:nvPr/>
        </p:nvSpPr>
        <p:spPr>
          <a:xfrm>
            <a:off x="4429125" y="247650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确认 main、重复函数、重复参数等全局约束。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2A03B2-8541-4B97-90A2-C263AFECC2CC}"/>
              </a:ext>
            </a:extLst>
          </p:cNvPr>
          <p:cNvSpPr>
            <a:spLocks noGrp="1"/>
          </p:cNvSpPr>
          <p:nvPr/>
        </p:nvSpPr>
        <p:spPr>
          <a:xfrm>
            <a:off x="990600" y="2924175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7B00F1-0B4C-45B3-8904-A61D815E91CA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419100" cy="2667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0732C6-D68A-4526-99A9-0339CA959CEE}"/>
              </a:ext>
            </a:extLst>
          </p:cNvPr>
          <p:cNvSpPr>
            <a:spLocks noGrp="1"/>
          </p:cNvSpPr>
          <p:nvPr/>
        </p:nvSpPr>
        <p:spPr>
          <a:xfrm>
            <a:off x="971550" y="3248025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CA71E6-60CF-46BB-8CCC-A786B456478A}"/>
              </a:ext>
            </a:extLst>
          </p:cNvPr>
          <p:cNvSpPr>
            <a:spLocks noGrp="1"/>
          </p:cNvSpPr>
          <p:nvPr/>
        </p:nvSpPr>
        <p:spPr>
          <a:xfrm>
            <a:off x="1466850" y="3162300"/>
            <a:ext cx="8001000" cy="533400"/>
          </a:xfrm>
          <a:prstGeom prst="rect">
            <a:avLst/>
          </a:prstGeom>
          <a:solidFill>
            <a:srgbClr val="FFF3F3"/>
          </a:solidFill>
          <a:ln w="9525">
            <a:solidFill>
              <a:srgbClr val="C00000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FDA414-D071-4CAF-9476-12DC73A533EA}"/>
              </a:ext>
            </a:extLst>
          </p:cNvPr>
          <p:cNvSpPr>
            <a:spLocks noGrp="1"/>
          </p:cNvSpPr>
          <p:nvPr/>
        </p:nvSpPr>
        <p:spPr>
          <a:xfrm>
            <a:off x="1676400" y="32385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分析函数体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CD2BECD-3F5B-41DB-8F92-0497AB8E535F}"/>
              </a:ext>
            </a:extLst>
          </p:cNvPr>
          <p:cNvSpPr>
            <a:spLocks noGrp="1"/>
          </p:cNvSpPr>
          <p:nvPr/>
        </p:nvSpPr>
        <p:spPr>
          <a:xfrm>
            <a:off x="4429125" y="325755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进入作用域，逐条处理语句和尾表达式。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73055C3-85A3-40E8-A875-36E8DB93DE68}"/>
              </a:ext>
            </a:extLst>
          </p:cNvPr>
          <p:cNvSpPr>
            <a:spLocks noGrp="1"/>
          </p:cNvSpPr>
          <p:nvPr/>
        </p:nvSpPr>
        <p:spPr>
          <a:xfrm>
            <a:off x="990600" y="3705225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222AF9-9917-4A58-96F9-0D3D82E224EA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1910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FFDF75-443E-4DB5-84B2-FC1004D156F5}"/>
              </a:ext>
            </a:extLst>
          </p:cNvPr>
          <p:cNvSpPr>
            <a:spLocks noGrp="1"/>
          </p:cNvSpPr>
          <p:nvPr/>
        </p:nvSpPr>
        <p:spPr>
          <a:xfrm>
            <a:off x="971550" y="4029075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276C89-2373-458F-87CA-92E4952C8B3B}"/>
              </a:ext>
            </a:extLst>
          </p:cNvPr>
          <p:cNvSpPr>
            <a:spLocks noGrp="1"/>
          </p:cNvSpPr>
          <p:nvPr/>
        </p:nvSpPr>
        <p:spPr>
          <a:xfrm>
            <a:off x="1466850" y="3943350"/>
            <a:ext cx="8001000" cy="53340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932354-8E08-4E0F-BA8E-4CE1F39A4BAD}"/>
              </a:ext>
            </a:extLst>
          </p:cNvPr>
          <p:cNvSpPr>
            <a:spLocks noGrp="1"/>
          </p:cNvSpPr>
          <p:nvPr/>
        </p:nvSpPr>
        <p:spPr>
          <a:xfrm>
            <a:off x="1676400" y="40195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表达式类型推导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D11D65E-69C3-49E1-8398-0E901EB5EAEA}"/>
              </a:ext>
            </a:extLst>
          </p:cNvPr>
          <p:cNvSpPr>
            <a:spLocks noGrp="1"/>
          </p:cNvSpPr>
          <p:nvPr/>
        </p:nvSpPr>
        <p:spPr>
          <a:xfrm>
            <a:off x="4429125" y="403860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每个表达式返回类型和可用于四元式的值位置。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EAE40DE-BDE5-4C82-ADB7-88DFB034D9A8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08F071-520A-4BA8-AE15-A45EFFA23313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41910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1E9C5E-CFC5-4011-9F9D-6AD3C400CD25}"/>
              </a:ext>
            </a:extLst>
          </p:cNvPr>
          <p:cNvSpPr>
            <a:spLocks noGrp="1"/>
          </p:cNvSpPr>
          <p:nvPr/>
        </p:nvSpPr>
        <p:spPr>
          <a:xfrm>
            <a:off x="971550" y="4810125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16713E2-EB6E-47A2-A1AE-D4CAB1FC52CC}"/>
              </a:ext>
            </a:extLst>
          </p:cNvPr>
          <p:cNvSpPr>
            <a:spLocks noGrp="1"/>
          </p:cNvSpPr>
          <p:nvPr/>
        </p:nvSpPr>
        <p:spPr>
          <a:xfrm>
            <a:off x="1466850" y="4724400"/>
            <a:ext cx="8001000" cy="53340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A7134D9-FFE7-440E-A6D9-1AF758EE932D}"/>
              </a:ext>
            </a:extLst>
          </p:cNvPr>
          <p:cNvSpPr>
            <a:spLocks noGrp="1"/>
          </p:cNvSpPr>
          <p:nvPr/>
        </p:nvSpPr>
        <p:spPr>
          <a:xfrm>
            <a:off x="1676400" y="48006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错误收集与 IR 生成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D127AFB-2C9C-4B25-9102-A47EC44DF108}"/>
              </a:ext>
            </a:extLst>
          </p:cNvPr>
          <p:cNvSpPr>
            <a:spLocks noGrp="1"/>
          </p:cNvSpPr>
          <p:nvPr/>
        </p:nvSpPr>
        <p:spPr>
          <a:xfrm>
            <a:off x="4429125" y="481965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不中断式收集 semanticErrors，同时生成 quadruples。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664C2E6-7704-4C72-BC54-E310FA4923B4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71AFD6B-2148-4C49-A44A-2FDB283BA8A6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A42ACF5-26E8-4931-B2DA-8B0FF62BE216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48642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E8E8DE3-5E97-4100-84A2-7E1A827B0A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32F149-27F7-47D8-9F10-42218DD8826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Type System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191BA0-5963-490E-BF68-FEFF105860C0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类型系统设计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1995BE-432C-432A-8680-200D474B74BB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9B9F85-9B3C-41B9-90C4-6507E008A78E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支持的类型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DF7AFF-9F01-405A-9AB0-3CB65549073F}"/>
              </a:ext>
            </a:extLst>
          </p:cNvPr>
          <p:cNvSpPr>
            <a:spLocks noGrp="1"/>
          </p:cNvSpPr>
          <p:nvPr/>
        </p:nvSpPr>
        <p:spPr>
          <a:xfrm>
            <a:off x="685800" y="3912657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为什么需要</a:t>
            </a:r>
            <a:r>
              <a:rPr sz="1575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 Error </a:t>
            </a:r>
            <a:r>
              <a:rPr sz="1575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类型</a:t>
            </a:r>
            <a:endParaRPr sz="1575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81E256-CE4B-4AA7-8323-E91256A6F253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4762500" cy="2714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i32：整数表达式与算术运算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Bool：比较表达式结果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Unit：无返回值函数和空块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Ref：不可变/可变引用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Array / Tuple：复合类型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9BA62B-4095-4861-AEB1-063666C8BCE9}"/>
              </a:ext>
            </a:extLst>
          </p:cNvPr>
          <p:cNvSpPr>
            <a:spLocks noGrp="1"/>
          </p:cNvSpPr>
          <p:nvPr/>
        </p:nvSpPr>
        <p:spPr>
          <a:xfrm>
            <a:off x="781050" y="4486274"/>
            <a:ext cx="4095750" cy="1095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语义错误发生后继续分析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避免一个错误引发大量级联误报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仍尽量生成后续四元式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DD31AF-A9E2-445B-8D97-7D980AC703F4}"/>
              </a:ext>
            </a:extLst>
          </p:cNvPr>
          <p:cNvSpPr>
            <a:spLocks noGrp="1"/>
          </p:cNvSpPr>
          <p:nvPr/>
        </p:nvSpPr>
        <p:spPr>
          <a:xfrm>
            <a:off x="5351462" y="1471611"/>
            <a:ext cx="5875338" cy="4938713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43DA9B-7800-484F-8E18-7A6E34D86C1E}"/>
              </a:ext>
            </a:extLst>
          </p:cNvPr>
          <p:cNvSpPr>
            <a:spLocks noGrp="1"/>
          </p:cNvSpPr>
          <p:nvPr/>
        </p:nvSpPr>
        <p:spPr>
          <a:xfrm>
            <a:off x="5637212" y="1615546"/>
            <a:ext cx="5589588" cy="4607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语义分析中的类型表示。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32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位整型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`i32`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布尔型（比较运算结果产生；本语言没有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字面量）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单元类型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`()`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引用类型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`&amp;T`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或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`&amp;mut T`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定长数组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`[T; N]`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usize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元组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`(T1, T2, ...)`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elements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整型字面量字面值范围（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zh-C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a..b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），用于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循环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函数类型占位：标识符指向函数（仅出现在函数名被当作表达式使用时）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类型未知（声明未给类型且未初始化前）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永不返回（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表达式等）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Never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类型错误占位，用于错误恢复，不再连锁报错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265CAB-13F7-4373-939A-D9B92B5CFD8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BACD29-E97C-434F-B4EA-F302A1E052E3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F0DBE1-E50D-4B29-9EF0-D158FC675B06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4148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F3DB017-0EE7-4C78-8F11-F26730AB13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4551B6-D9BC-4C6A-85F5-63410A81789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Scope &amp; Symbols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8E7E5A-EEFE-4485-9EF8-B6A55D2836B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符号表与作用域管理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04D25D-A1FB-423D-AF94-2C059598DF9B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DC401E-04A9-447B-B88D-6E85A583540E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变量绑定信息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8470E7-3444-456C-B9D1-5E639C113EC2}"/>
              </a:ext>
            </a:extLst>
          </p:cNvPr>
          <p:cNvSpPr>
            <a:spLocks noGrp="1"/>
          </p:cNvSpPr>
          <p:nvPr/>
        </p:nvSpPr>
        <p:spPr>
          <a:xfrm>
            <a:off x="684744" y="4113138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作用域策略</a:t>
            </a:r>
            <a:endParaRPr sz="1575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D48939-0E93-4446-A835-95D40C9C0143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4762500" cy="2333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变量名与类型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是否可变 mut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是否已初始化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借用状态与引用冲突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作用域内 shadowing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B88BF0-F48A-484E-B7EF-BD5A48AE8970}"/>
              </a:ext>
            </a:extLst>
          </p:cNvPr>
          <p:cNvSpPr>
            <a:spLocks noGrp="1"/>
          </p:cNvSpPr>
          <p:nvPr/>
        </p:nvSpPr>
        <p:spPr>
          <a:xfrm>
            <a:off x="781050" y="4613312"/>
            <a:ext cx="4095750" cy="1714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进入块时</a:t>
            </a: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push scope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离开块时</a:t>
            </a: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pop scope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内层同名变量覆盖外层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查找变量时从内向外搜索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306E37-D821-45AE-A707-7369AEAD5BBA}"/>
              </a:ext>
            </a:extLst>
          </p:cNvPr>
          <p:cNvSpPr>
            <a:spLocks noGrp="1"/>
          </p:cNvSpPr>
          <p:nvPr/>
        </p:nvSpPr>
        <p:spPr>
          <a:xfrm>
            <a:off x="5354106" y="1349338"/>
            <a:ext cx="5761568" cy="3068600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337E8B-10BA-4B27-9191-746EEAF7766A}"/>
              </a:ext>
            </a:extLst>
          </p:cNvPr>
          <p:cNvSpPr>
            <a:spLocks noGrp="1"/>
          </p:cNvSpPr>
          <p:nvPr/>
        </p:nvSpPr>
        <p:spPr>
          <a:xfrm>
            <a:off x="5629274" y="1390649"/>
            <a:ext cx="5238751" cy="27622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变量符号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VarSymbol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类型；声明无类型且未初始化时为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[`Type::Unknown`]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是否声明为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`mut`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是否已被赋值（初始化）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initialized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>
              <a:buNone/>
            </a:pPr>
            <a:endParaRPr lang="en-US" altLang="zh-CN" sz="1600" b="0" i="0" dirty="0">
              <a:solidFill>
                <a:srgbClr val="666666"/>
              </a:solidFill>
              <a:effectLst/>
              <a:latin typeface="ui-monospace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作用域栈：栈顶是最内层作用域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SymbolTable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scopes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VarSymbol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&gt;&gt;,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functions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FunctionSig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A27810-DC14-42C2-BCD6-816B087E32BB}"/>
              </a:ext>
            </a:extLst>
          </p:cNvPr>
          <p:cNvSpPr>
            <a:spLocks noGrp="1"/>
          </p:cNvSpPr>
          <p:nvPr/>
        </p:nvSpPr>
        <p:spPr>
          <a:xfrm>
            <a:off x="5354106" y="4794286"/>
            <a:ext cx="5761568" cy="1123951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6D78D5-7783-4028-A25C-6BA079AF9D2C}"/>
              </a:ext>
            </a:extLst>
          </p:cNvPr>
          <p:cNvSpPr>
            <a:spLocks noGrp="1"/>
          </p:cNvSpPr>
          <p:nvPr/>
        </p:nvSpPr>
        <p:spPr>
          <a:xfrm>
            <a:off x="5354105" y="4794287"/>
            <a:ext cx="143357" cy="11239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2CD0AC-86E6-49B9-9E20-1230E60069CD}"/>
              </a:ext>
            </a:extLst>
          </p:cNvPr>
          <p:cNvSpPr>
            <a:spLocks noGrp="1"/>
          </p:cNvSpPr>
          <p:nvPr/>
        </p:nvSpPr>
        <p:spPr>
          <a:xfrm>
            <a:off x="5544606" y="4878953"/>
            <a:ext cx="3098110" cy="3725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作用域</a:t>
            </a: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价值</a:t>
            </a:r>
            <a:endParaRPr sz="16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7BEE68-29CE-4E8C-B984-7C98F239CC2C}"/>
              </a:ext>
            </a:extLst>
          </p:cNvPr>
          <p:cNvSpPr>
            <a:spLocks noGrp="1"/>
          </p:cNvSpPr>
          <p:nvPr/>
        </p:nvSpPr>
        <p:spPr>
          <a:xfrm>
            <a:off x="5544606" y="5327687"/>
            <a:ext cx="5196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语义检查不仅依赖类型，也依赖变量生命周期中的状态</a:t>
            </a:r>
            <a:r>
              <a:rPr sz="14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D13A88-9671-44E8-A439-48A85AECE7A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B8C69C-38F9-4BFF-9B27-650F11E992B6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902A4C-7D11-430F-806A-E384C538B62E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9666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1B2B17FC-E9E4-4986-912E-3539B86241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D8ECE0-AEBA-44A0-B38C-CDF7929C4E46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Function Checks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EE5A40-227A-4B96-8362-2543DCFB9DF6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函数、参数与返回值检查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E75510-08CC-45BA-98CB-B53231EEAA3D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6AFA69-2B96-4B56-B5E5-F757CFD78AE4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检查内容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941923-FB84-4E1F-9E61-1587D4A874AD}"/>
              </a:ext>
            </a:extLst>
          </p:cNvPr>
          <p:cNvSpPr>
            <a:spLocks noGrp="1"/>
          </p:cNvSpPr>
          <p:nvPr/>
        </p:nvSpPr>
        <p:spPr>
          <a:xfrm>
            <a:off x="6553200" y="1504950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错误示例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A14756-B29D-4F4D-84B9-3F8980BA5946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4762500" cy="2333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函数调用前已知签名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实参数量必须匹配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实参类型必须匹配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return expr 与声明返回类型一致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无返回值函数不能作为右值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F4A00C-1712-4687-B6B2-CA26037A9F89}"/>
              </a:ext>
            </a:extLst>
          </p:cNvPr>
          <p:cNvSpPr>
            <a:spLocks noGrp="1"/>
          </p:cNvSpPr>
          <p:nvPr/>
        </p:nvSpPr>
        <p:spPr>
          <a:xfrm>
            <a:off x="6648452" y="1826378"/>
            <a:ext cx="4095750" cy="885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fn</a:t>
            </a: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f() -&gt; i32 { return; }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f(1, 2)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实参数量错误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let x:i32 = g(); 但 g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返回</a:t>
            </a: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Unit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891FFE-EF92-4DBD-ABD3-3014999C323E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3143250" cy="11239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F639EF-C510-4992-A51C-4659CC0E8CDF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76200" cy="11239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F4620E-B89F-41FB-9BFA-AA92A8ED8877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生成结果</a:t>
            </a:r>
            <a:endParaRPr sz="16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4F321E-D540-4EF1-858B-69A11F463510}"/>
              </a:ext>
            </a:extLst>
          </p:cNvPr>
          <p:cNvSpPr>
            <a:spLocks noGrp="1"/>
          </p:cNvSpPr>
          <p:nvPr/>
        </p:nvSpPr>
        <p:spPr>
          <a:xfrm>
            <a:off x="885825" y="4233863"/>
            <a:ext cx="276225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生成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FUNC / END_FUNC / PARAM / CALL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等函数四元式</a:t>
            </a:r>
            <a:endParaRPr sz="12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451182-B90D-491C-9F47-1E540701C46E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3143250" cy="11239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901A17-76E9-4FEF-A38C-A6DC3772A93C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76200" cy="11239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F5B7FA-EFDB-4DED-ADE9-7D25FE269347}"/>
              </a:ext>
            </a:extLst>
          </p:cNvPr>
          <p:cNvSpPr>
            <a:spLocks noGrp="1"/>
          </p:cNvSpPr>
          <p:nvPr/>
        </p:nvSpPr>
        <p:spPr>
          <a:xfrm>
            <a:off x="876300" y="5210175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验收点</a:t>
            </a:r>
            <a:endParaRPr sz="16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ED770C-E548-446D-B817-1E810B9CB8B3}"/>
              </a:ext>
            </a:extLst>
          </p:cNvPr>
          <p:cNvSpPr>
            <a:spLocks noGrp="1"/>
          </p:cNvSpPr>
          <p:nvPr/>
        </p:nvSpPr>
        <p:spPr>
          <a:xfrm>
            <a:off x="876300" y="5572125"/>
            <a:ext cx="276225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覆盖返回类型、变量状态和调用错误</a:t>
            </a:r>
            <a:endParaRPr sz="12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F3786B-6AFF-4C62-BD1F-1BE630512BB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983D4D-312C-4CF1-99A0-00F427DACF21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359C1F-D216-4F93-8378-BD3C1D3AAB34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64CCF97-D7D1-BB11-745C-66C0971CC490}"/>
              </a:ext>
            </a:extLst>
          </p:cNvPr>
          <p:cNvSpPr>
            <a:spLocks noGrp="1"/>
          </p:cNvSpPr>
          <p:nvPr/>
        </p:nvSpPr>
        <p:spPr>
          <a:xfrm>
            <a:off x="6164791" y="2767806"/>
            <a:ext cx="4960409" cy="3632994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0DCF32-3B13-4234-7F21-09D3A60B1F7F}"/>
              </a:ext>
            </a:extLst>
          </p:cNvPr>
          <p:cNvSpPr txBox="1"/>
          <p:nvPr/>
        </p:nvSpPr>
        <p:spPr>
          <a:xfrm>
            <a:off x="6483350" y="2763758"/>
            <a:ext cx="4832350" cy="3960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实参数量检查（规则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3.5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(……);</a:t>
            </a:r>
          </a:p>
          <a:p>
            <a:pPr>
              <a:lnSpc>
                <a:spcPts val="1425"/>
              </a:lnSpc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zh-CN" sz="1200" dirty="0">
                <a:solidFill>
                  <a:srgbClr val="3B3B3B"/>
                </a:solidFill>
                <a:latin typeface="Consolas" panose="020B0609020204030204" pitchFamily="49" charset="0"/>
              </a:rPr>
              <a:t>	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求值各实参并发出 </a:t>
            </a:r>
            <a:r>
              <a:rPr lang="en-US" altLang="zh-CN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PARAM</a:t>
            </a: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arg_places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with_capacity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gen_expr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zh-C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检查实参类型与形参类型</a:t>
            </a:r>
            <a:endParaRPr lang="en-US" altLang="zh-CN" sz="11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if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pname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 if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pty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is_known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&amp;&amp;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is_known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AF00DB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pty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compatible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u="sng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(……);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}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1425"/>
              </a:lnSpc>
            </a:pP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100" b="0" u="sng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arg_places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place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4974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FFB00757-C5F2-4989-91A7-DC8B0D0D1E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F0B3DE-E3A0-462B-B1A1-9B8047FEA44F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Expression IR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CED1B0-9884-4D15-A9EF-07A64628F6B6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表达式与临时变量生成</a:t>
            </a:r>
            <a:endParaRPr sz="24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0A5F1C-F0D2-4CC7-927B-90F75F3ED372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62ACD3-B439-40CC-80DA-085D78EA4F22}"/>
              </a:ext>
            </a:extLst>
          </p:cNvPr>
          <p:cNvSpPr>
            <a:spLocks noGrp="1"/>
          </p:cNvSpPr>
          <p:nvPr/>
        </p:nvSpPr>
        <p:spPr>
          <a:xfrm>
            <a:off x="547688" y="1438275"/>
            <a:ext cx="4238625" cy="15811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B8C2CC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ACE09B-3E97-4F51-9668-4537351F43E8}"/>
              </a:ext>
            </a:extLst>
          </p:cNvPr>
          <p:cNvSpPr>
            <a:spLocks noGrp="1"/>
          </p:cNvSpPr>
          <p:nvPr/>
        </p:nvSpPr>
        <p:spPr>
          <a:xfrm>
            <a:off x="719137" y="1590676"/>
            <a:ext cx="3895725" cy="1190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fn</a:t>
            </a: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mut x:i32 = 1;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y:i32 = 2 * 3;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x = x + y;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EE4976-5841-4C2F-B023-D13C7B608DAE}"/>
              </a:ext>
            </a:extLst>
          </p:cNvPr>
          <p:cNvSpPr>
            <a:spLocks noGrp="1"/>
          </p:cNvSpPr>
          <p:nvPr/>
        </p:nvSpPr>
        <p:spPr>
          <a:xfrm>
            <a:off x="547688" y="3205162"/>
            <a:ext cx="857250" cy="4000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2E96CF-24EF-41B1-A61D-71E2B61457A0}"/>
              </a:ext>
            </a:extLst>
          </p:cNvPr>
          <p:cNvSpPr>
            <a:spLocks noGrp="1"/>
          </p:cNvSpPr>
          <p:nvPr/>
        </p:nvSpPr>
        <p:spPr>
          <a:xfrm>
            <a:off x="642938" y="328136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BA5AAF-1379-48E3-9A7E-B9EA07BADFED}"/>
              </a:ext>
            </a:extLst>
          </p:cNvPr>
          <p:cNvSpPr>
            <a:spLocks noGrp="1"/>
          </p:cNvSpPr>
          <p:nvPr/>
        </p:nvSpPr>
        <p:spPr>
          <a:xfrm>
            <a:off x="1404938" y="3205162"/>
            <a:ext cx="1238250" cy="4000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1100AD-0834-4D77-BB8E-251D211808C5}"/>
              </a:ext>
            </a:extLst>
          </p:cNvPr>
          <p:cNvSpPr>
            <a:spLocks noGrp="1"/>
          </p:cNvSpPr>
          <p:nvPr/>
        </p:nvSpPr>
        <p:spPr>
          <a:xfrm>
            <a:off x="1500188" y="32813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arg1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28BC1D-4081-4946-9F60-B42E5F991BC1}"/>
              </a:ext>
            </a:extLst>
          </p:cNvPr>
          <p:cNvSpPr>
            <a:spLocks noGrp="1"/>
          </p:cNvSpPr>
          <p:nvPr/>
        </p:nvSpPr>
        <p:spPr>
          <a:xfrm>
            <a:off x="2643188" y="3205162"/>
            <a:ext cx="1238250" cy="4000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40D406-7C89-4260-896B-FB461E506EA6}"/>
              </a:ext>
            </a:extLst>
          </p:cNvPr>
          <p:cNvSpPr>
            <a:spLocks noGrp="1"/>
          </p:cNvSpPr>
          <p:nvPr/>
        </p:nvSpPr>
        <p:spPr>
          <a:xfrm>
            <a:off x="2738438" y="32813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arg2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5F0DCB-3810-48BA-B728-12D6237E158F}"/>
              </a:ext>
            </a:extLst>
          </p:cNvPr>
          <p:cNvSpPr>
            <a:spLocks noGrp="1"/>
          </p:cNvSpPr>
          <p:nvPr/>
        </p:nvSpPr>
        <p:spPr>
          <a:xfrm>
            <a:off x="3881438" y="3205162"/>
            <a:ext cx="904875" cy="4000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AFB5B9-0175-4715-AB3A-4BA3FE9F062D}"/>
              </a:ext>
            </a:extLst>
          </p:cNvPr>
          <p:cNvSpPr>
            <a:spLocks noGrp="1"/>
          </p:cNvSpPr>
          <p:nvPr/>
        </p:nvSpPr>
        <p:spPr>
          <a:xfrm>
            <a:off x="3976688" y="328136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result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B3EFE5-72C9-4232-9399-15A91E4077F8}"/>
              </a:ext>
            </a:extLst>
          </p:cNvPr>
          <p:cNvSpPr>
            <a:spLocks noGrp="1"/>
          </p:cNvSpPr>
          <p:nvPr/>
        </p:nvSpPr>
        <p:spPr>
          <a:xfrm>
            <a:off x="547688" y="3605212"/>
            <a:ext cx="857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4AD175-4653-4524-8E3A-27EF691391A5}"/>
              </a:ext>
            </a:extLst>
          </p:cNvPr>
          <p:cNvSpPr>
            <a:spLocks noGrp="1"/>
          </p:cNvSpPr>
          <p:nvPr/>
        </p:nvSpPr>
        <p:spPr>
          <a:xfrm>
            <a:off x="642938" y="368141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A1C2D9-3B51-470E-944C-07A043796716}"/>
              </a:ext>
            </a:extLst>
          </p:cNvPr>
          <p:cNvSpPr>
            <a:spLocks noGrp="1"/>
          </p:cNvSpPr>
          <p:nvPr/>
        </p:nvSpPr>
        <p:spPr>
          <a:xfrm>
            <a:off x="1404938" y="36052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3DC41F-9F15-4C1B-AFA6-633BE8BE84A3}"/>
              </a:ext>
            </a:extLst>
          </p:cNvPr>
          <p:cNvSpPr>
            <a:spLocks noGrp="1"/>
          </p:cNvSpPr>
          <p:nvPr/>
        </p:nvSpPr>
        <p:spPr>
          <a:xfrm>
            <a:off x="1500188" y="36814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FE9D40-ADC6-49A8-B4AF-4F9B9399C0EF}"/>
              </a:ext>
            </a:extLst>
          </p:cNvPr>
          <p:cNvSpPr>
            <a:spLocks noGrp="1"/>
          </p:cNvSpPr>
          <p:nvPr/>
        </p:nvSpPr>
        <p:spPr>
          <a:xfrm>
            <a:off x="2643188" y="36052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6EE99B-C9E2-4BD2-88DB-5DBD0625DBDF}"/>
              </a:ext>
            </a:extLst>
          </p:cNvPr>
          <p:cNvSpPr>
            <a:spLocks noGrp="1"/>
          </p:cNvSpPr>
          <p:nvPr/>
        </p:nvSpPr>
        <p:spPr>
          <a:xfrm>
            <a:off x="2738438" y="36814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8F2BCF-269C-4786-8A53-8F7B209FB9CF}"/>
              </a:ext>
            </a:extLst>
          </p:cNvPr>
          <p:cNvSpPr>
            <a:spLocks noGrp="1"/>
          </p:cNvSpPr>
          <p:nvPr/>
        </p:nvSpPr>
        <p:spPr>
          <a:xfrm>
            <a:off x="3881438" y="3605212"/>
            <a:ext cx="904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8B6F49-1280-41EC-B5CE-06289B926D4A}"/>
              </a:ext>
            </a:extLst>
          </p:cNvPr>
          <p:cNvSpPr>
            <a:spLocks noGrp="1"/>
          </p:cNvSpPr>
          <p:nvPr/>
        </p:nvSpPr>
        <p:spPr>
          <a:xfrm>
            <a:off x="3976688" y="368141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E79F13-1F1E-4F50-8A12-0B297B35D46A}"/>
              </a:ext>
            </a:extLst>
          </p:cNvPr>
          <p:cNvSpPr>
            <a:spLocks noGrp="1"/>
          </p:cNvSpPr>
          <p:nvPr/>
        </p:nvSpPr>
        <p:spPr>
          <a:xfrm>
            <a:off x="547688" y="4005262"/>
            <a:ext cx="857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B81A998-C53D-4665-86F7-A3B2FF6064A5}"/>
              </a:ext>
            </a:extLst>
          </p:cNvPr>
          <p:cNvSpPr>
            <a:spLocks noGrp="1"/>
          </p:cNvSpPr>
          <p:nvPr/>
        </p:nvSpPr>
        <p:spPr>
          <a:xfrm>
            <a:off x="642938" y="408146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*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95576C-C3AC-4E23-AB5E-D9C86275E408}"/>
              </a:ext>
            </a:extLst>
          </p:cNvPr>
          <p:cNvSpPr>
            <a:spLocks noGrp="1"/>
          </p:cNvSpPr>
          <p:nvPr/>
        </p:nvSpPr>
        <p:spPr>
          <a:xfrm>
            <a:off x="1404938" y="4005262"/>
            <a:ext cx="1238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624ACE-7194-4A9D-9CBE-8F81B5C93020}"/>
              </a:ext>
            </a:extLst>
          </p:cNvPr>
          <p:cNvSpPr>
            <a:spLocks noGrp="1"/>
          </p:cNvSpPr>
          <p:nvPr/>
        </p:nvSpPr>
        <p:spPr>
          <a:xfrm>
            <a:off x="1500188" y="40814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B4607AF-8524-4A9D-BCFE-220CC75D99E1}"/>
              </a:ext>
            </a:extLst>
          </p:cNvPr>
          <p:cNvSpPr>
            <a:spLocks noGrp="1"/>
          </p:cNvSpPr>
          <p:nvPr/>
        </p:nvSpPr>
        <p:spPr>
          <a:xfrm>
            <a:off x="2643188" y="4005262"/>
            <a:ext cx="1238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6A03E85-8B55-4AF1-AEC1-340F9D2792E3}"/>
              </a:ext>
            </a:extLst>
          </p:cNvPr>
          <p:cNvSpPr>
            <a:spLocks noGrp="1"/>
          </p:cNvSpPr>
          <p:nvPr/>
        </p:nvSpPr>
        <p:spPr>
          <a:xfrm>
            <a:off x="2738438" y="40814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22076C1-C695-4A8D-8208-FC83B200FAD2}"/>
              </a:ext>
            </a:extLst>
          </p:cNvPr>
          <p:cNvSpPr>
            <a:spLocks noGrp="1"/>
          </p:cNvSpPr>
          <p:nvPr/>
        </p:nvSpPr>
        <p:spPr>
          <a:xfrm>
            <a:off x="3881438" y="4005262"/>
            <a:ext cx="904875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AA839E-28AE-4B9A-B2A6-1349D5977CF3}"/>
              </a:ext>
            </a:extLst>
          </p:cNvPr>
          <p:cNvSpPr>
            <a:spLocks noGrp="1"/>
          </p:cNvSpPr>
          <p:nvPr/>
        </p:nvSpPr>
        <p:spPr>
          <a:xfrm>
            <a:off x="3976688" y="408146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FD7E742-CD83-4E18-BCA6-CB15D1DD6779}"/>
              </a:ext>
            </a:extLst>
          </p:cNvPr>
          <p:cNvSpPr>
            <a:spLocks noGrp="1"/>
          </p:cNvSpPr>
          <p:nvPr/>
        </p:nvSpPr>
        <p:spPr>
          <a:xfrm>
            <a:off x="547688" y="4405312"/>
            <a:ext cx="857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2AE609E-4127-472B-B877-525E61003D29}"/>
              </a:ext>
            </a:extLst>
          </p:cNvPr>
          <p:cNvSpPr>
            <a:spLocks noGrp="1"/>
          </p:cNvSpPr>
          <p:nvPr/>
        </p:nvSpPr>
        <p:spPr>
          <a:xfrm>
            <a:off x="642938" y="448151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D440E5B-E450-46EE-8FDC-BBE1198BE128}"/>
              </a:ext>
            </a:extLst>
          </p:cNvPr>
          <p:cNvSpPr>
            <a:spLocks noGrp="1"/>
          </p:cNvSpPr>
          <p:nvPr/>
        </p:nvSpPr>
        <p:spPr>
          <a:xfrm>
            <a:off x="1404938" y="44053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F880D6-8CC7-4400-9FEB-5F82906C8380}"/>
              </a:ext>
            </a:extLst>
          </p:cNvPr>
          <p:cNvSpPr>
            <a:spLocks noGrp="1"/>
          </p:cNvSpPr>
          <p:nvPr/>
        </p:nvSpPr>
        <p:spPr>
          <a:xfrm>
            <a:off x="1500188" y="44815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D25F299-C80C-42BA-A209-13A8624BA55C}"/>
              </a:ext>
            </a:extLst>
          </p:cNvPr>
          <p:cNvSpPr>
            <a:spLocks noGrp="1"/>
          </p:cNvSpPr>
          <p:nvPr/>
        </p:nvSpPr>
        <p:spPr>
          <a:xfrm>
            <a:off x="2643188" y="44053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35C9D2D-E7C5-4F7C-BC63-CDE52B529B11}"/>
              </a:ext>
            </a:extLst>
          </p:cNvPr>
          <p:cNvSpPr>
            <a:spLocks noGrp="1"/>
          </p:cNvSpPr>
          <p:nvPr/>
        </p:nvSpPr>
        <p:spPr>
          <a:xfrm>
            <a:off x="2738438" y="44815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93C9F46-0423-464D-8CFA-4F2770EFD48E}"/>
              </a:ext>
            </a:extLst>
          </p:cNvPr>
          <p:cNvSpPr>
            <a:spLocks noGrp="1"/>
          </p:cNvSpPr>
          <p:nvPr/>
        </p:nvSpPr>
        <p:spPr>
          <a:xfrm>
            <a:off x="3881438" y="4405312"/>
            <a:ext cx="904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70F7ADA-0EF8-45CF-8155-16C8D0D6EC1E}"/>
              </a:ext>
            </a:extLst>
          </p:cNvPr>
          <p:cNvSpPr>
            <a:spLocks noGrp="1"/>
          </p:cNvSpPr>
          <p:nvPr/>
        </p:nvSpPr>
        <p:spPr>
          <a:xfrm>
            <a:off x="3976688" y="448151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y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77F1C66-7C9E-4BA1-A9F3-157A2913EA22}"/>
              </a:ext>
            </a:extLst>
          </p:cNvPr>
          <p:cNvSpPr>
            <a:spLocks noGrp="1"/>
          </p:cNvSpPr>
          <p:nvPr/>
        </p:nvSpPr>
        <p:spPr>
          <a:xfrm>
            <a:off x="547688" y="4805362"/>
            <a:ext cx="857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57B5F2A-158A-4AF9-B3D5-5EE1F1081466}"/>
              </a:ext>
            </a:extLst>
          </p:cNvPr>
          <p:cNvSpPr>
            <a:spLocks noGrp="1"/>
          </p:cNvSpPr>
          <p:nvPr/>
        </p:nvSpPr>
        <p:spPr>
          <a:xfrm>
            <a:off x="642938" y="488156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1078452-F7C0-4DA9-A1D7-7E6FA033E323}"/>
              </a:ext>
            </a:extLst>
          </p:cNvPr>
          <p:cNvSpPr>
            <a:spLocks noGrp="1"/>
          </p:cNvSpPr>
          <p:nvPr/>
        </p:nvSpPr>
        <p:spPr>
          <a:xfrm>
            <a:off x="1404938" y="4805362"/>
            <a:ext cx="1238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60D06B3-AEF1-4659-B638-94D49383BC31}"/>
              </a:ext>
            </a:extLst>
          </p:cNvPr>
          <p:cNvSpPr>
            <a:spLocks noGrp="1"/>
          </p:cNvSpPr>
          <p:nvPr/>
        </p:nvSpPr>
        <p:spPr>
          <a:xfrm>
            <a:off x="1500188" y="48815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1BA3E7A-6515-4A0E-B763-BC3A059D7C62}"/>
              </a:ext>
            </a:extLst>
          </p:cNvPr>
          <p:cNvSpPr>
            <a:spLocks noGrp="1"/>
          </p:cNvSpPr>
          <p:nvPr/>
        </p:nvSpPr>
        <p:spPr>
          <a:xfrm>
            <a:off x="2643188" y="4805362"/>
            <a:ext cx="1238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C093E11-481D-4D8E-A300-66DC47720E90}"/>
              </a:ext>
            </a:extLst>
          </p:cNvPr>
          <p:cNvSpPr>
            <a:spLocks noGrp="1"/>
          </p:cNvSpPr>
          <p:nvPr/>
        </p:nvSpPr>
        <p:spPr>
          <a:xfrm>
            <a:off x="2738438" y="48815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y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7B87523-5284-410A-A65E-05601965A9B2}"/>
              </a:ext>
            </a:extLst>
          </p:cNvPr>
          <p:cNvSpPr>
            <a:spLocks noGrp="1"/>
          </p:cNvSpPr>
          <p:nvPr/>
        </p:nvSpPr>
        <p:spPr>
          <a:xfrm>
            <a:off x="3881438" y="4805362"/>
            <a:ext cx="904875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0746D2D-2950-493E-B883-0ACE42856525}"/>
              </a:ext>
            </a:extLst>
          </p:cNvPr>
          <p:cNvSpPr>
            <a:spLocks noGrp="1"/>
          </p:cNvSpPr>
          <p:nvPr/>
        </p:nvSpPr>
        <p:spPr>
          <a:xfrm>
            <a:off x="3976688" y="488156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A8ADA1F-CD66-4081-9477-296D635DEA2E}"/>
              </a:ext>
            </a:extLst>
          </p:cNvPr>
          <p:cNvSpPr>
            <a:spLocks noGrp="1"/>
          </p:cNvSpPr>
          <p:nvPr/>
        </p:nvSpPr>
        <p:spPr>
          <a:xfrm>
            <a:off x="547688" y="5205412"/>
            <a:ext cx="857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CB8F5F1-833B-44BF-A420-AEAAA17E5885}"/>
              </a:ext>
            </a:extLst>
          </p:cNvPr>
          <p:cNvSpPr>
            <a:spLocks noGrp="1"/>
          </p:cNvSpPr>
          <p:nvPr/>
        </p:nvSpPr>
        <p:spPr>
          <a:xfrm>
            <a:off x="642938" y="528161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0712EC1-66B2-4B7D-9CD0-717EEDEA6E44}"/>
              </a:ext>
            </a:extLst>
          </p:cNvPr>
          <p:cNvSpPr>
            <a:spLocks noGrp="1"/>
          </p:cNvSpPr>
          <p:nvPr/>
        </p:nvSpPr>
        <p:spPr>
          <a:xfrm>
            <a:off x="1404938" y="52054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75955CD-A46C-481D-BA3F-B0D53D072B84}"/>
              </a:ext>
            </a:extLst>
          </p:cNvPr>
          <p:cNvSpPr>
            <a:spLocks noGrp="1"/>
          </p:cNvSpPr>
          <p:nvPr/>
        </p:nvSpPr>
        <p:spPr>
          <a:xfrm>
            <a:off x="1500188" y="52816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E2CB3C0-9882-4083-8CC2-F7F6DD02F8C5}"/>
              </a:ext>
            </a:extLst>
          </p:cNvPr>
          <p:cNvSpPr>
            <a:spLocks noGrp="1"/>
          </p:cNvSpPr>
          <p:nvPr/>
        </p:nvSpPr>
        <p:spPr>
          <a:xfrm>
            <a:off x="2643188" y="52054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E97E0C3-73E5-463F-AB8E-C139EA54C998}"/>
              </a:ext>
            </a:extLst>
          </p:cNvPr>
          <p:cNvSpPr>
            <a:spLocks noGrp="1"/>
          </p:cNvSpPr>
          <p:nvPr/>
        </p:nvSpPr>
        <p:spPr>
          <a:xfrm>
            <a:off x="2738438" y="52816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5A2C426-0679-4CC3-B056-5A2FBDF6CB2D}"/>
              </a:ext>
            </a:extLst>
          </p:cNvPr>
          <p:cNvSpPr>
            <a:spLocks noGrp="1"/>
          </p:cNvSpPr>
          <p:nvPr/>
        </p:nvSpPr>
        <p:spPr>
          <a:xfrm>
            <a:off x="3881438" y="5205412"/>
            <a:ext cx="904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3B80C65-EC05-4AB3-8F72-7683C4D3815A}"/>
              </a:ext>
            </a:extLst>
          </p:cNvPr>
          <p:cNvSpPr>
            <a:spLocks noGrp="1"/>
          </p:cNvSpPr>
          <p:nvPr/>
        </p:nvSpPr>
        <p:spPr>
          <a:xfrm>
            <a:off x="3976688" y="528161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E7B6EF3-0F99-4374-AFBD-9AD96E2E801B}"/>
              </a:ext>
            </a:extLst>
          </p:cNvPr>
          <p:cNvSpPr>
            <a:spLocks noGrp="1"/>
          </p:cNvSpPr>
          <p:nvPr/>
        </p:nvSpPr>
        <p:spPr>
          <a:xfrm>
            <a:off x="5267588" y="1510516"/>
            <a:ext cx="5505450" cy="6865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表达式递归翻译</a:t>
            </a:r>
            <a:r>
              <a:rPr sz="16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sz="1600" b="1" dirty="0">
              <a:solidFill>
                <a:srgbClr val="0854A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buNone/>
              <a:defRPr sz="13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先生成子表达式四元式，再用临时变量承接中间结果</a:t>
            </a:r>
            <a:r>
              <a:rPr sz="16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7FC1211-D195-483C-ACB4-55DE12942CD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5901CF4-A9EC-4562-8B7B-FD2CD61809A2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A4267F4-2305-4BC1-9481-17607131C389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6F2C6B5-A984-7D72-B6C4-A3DA70E3DECC}"/>
              </a:ext>
            </a:extLst>
          </p:cNvPr>
          <p:cNvSpPr>
            <a:spLocks noGrp="1"/>
          </p:cNvSpPr>
          <p:nvPr/>
        </p:nvSpPr>
        <p:spPr>
          <a:xfrm>
            <a:off x="5267588" y="2455882"/>
            <a:ext cx="6045729" cy="3111480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EE23274-484E-B482-7EB8-E10E1B7F5795}"/>
              </a:ext>
            </a:extLst>
          </p:cNvPr>
          <p:cNvSpPr txBox="1"/>
          <p:nvPr/>
        </p:nvSpPr>
        <p:spPr>
          <a:xfrm>
            <a:off x="5225255" y="2455882"/>
            <a:ext cx="6184900" cy="3149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gen_binary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BinaryOp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ExprValue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递归翻译子表达式</a:t>
            </a: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gen_expr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gen_expr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op_str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is_cmp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bin_op_info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类型检查省略</a:t>
            </a:r>
            <a:r>
              <a:rPr lang="en-US" altLang="zh-CN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……</a:t>
            </a:r>
          </a:p>
          <a:p>
            <a:pPr>
              <a:lnSpc>
                <a:spcPts val="1425"/>
              </a:lnSpc>
              <a:buNone/>
            </a:pPr>
            <a:endParaRPr lang="en-US" altLang="zh-CN" sz="11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构造中间变量</a:t>
            </a: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new_temp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op_str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place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place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result_ty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is_cmp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1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1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ExprValue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result_ty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9091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91637885-A7A8-4A84-8E7E-039414690C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A72E5A-BAB0-419B-AF71-8E2D64C96F9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Control Flow IR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D35C66-CEF1-4434-9082-5657A1AC8627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控制流四元式生成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FE4A44-361F-450C-A00A-C8F32579B5F9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37FEBD-DED2-488B-A9A9-B95FAFA276B8}"/>
              </a:ext>
            </a:extLst>
          </p:cNvPr>
          <p:cNvSpPr>
            <a:spLocks noGrp="1"/>
          </p:cNvSpPr>
          <p:nvPr/>
        </p:nvSpPr>
        <p:spPr>
          <a:xfrm>
            <a:off x="547688" y="1385888"/>
            <a:ext cx="4238625" cy="1676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B8C2CC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B920EA-6FC0-4E14-A9DF-36AAAFF1316B}"/>
              </a:ext>
            </a:extLst>
          </p:cNvPr>
          <p:cNvSpPr>
            <a:spLocks noGrp="1"/>
          </p:cNvSpPr>
          <p:nvPr/>
        </p:nvSpPr>
        <p:spPr>
          <a:xfrm>
            <a:off x="719138" y="1539875"/>
            <a:ext cx="3895725" cy="140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fn</a:t>
            </a: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mut x:i32 = 0;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while x &lt; 10 {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    x = x + 1;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338744-5CD0-4B78-9AE9-9B4A038F50CA}"/>
              </a:ext>
            </a:extLst>
          </p:cNvPr>
          <p:cNvSpPr>
            <a:spLocks noGrp="1"/>
          </p:cNvSpPr>
          <p:nvPr/>
        </p:nvSpPr>
        <p:spPr>
          <a:xfrm>
            <a:off x="547688" y="3181350"/>
            <a:ext cx="1619250" cy="38100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E341F-9B99-41F9-8C3C-773B9CC19BE5}"/>
              </a:ext>
            </a:extLst>
          </p:cNvPr>
          <p:cNvSpPr>
            <a:spLocks noGrp="1"/>
          </p:cNvSpPr>
          <p:nvPr/>
        </p:nvSpPr>
        <p:spPr>
          <a:xfrm>
            <a:off x="642938" y="3257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B5683A-F8D4-493B-97E8-E4DA74988FFB}"/>
              </a:ext>
            </a:extLst>
          </p:cNvPr>
          <p:cNvSpPr>
            <a:spLocks noGrp="1"/>
          </p:cNvSpPr>
          <p:nvPr/>
        </p:nvSpPr>
        <p:spPr>
          <a:xfrm>
            <a:off x="2166938" y="3181350"/>
            <a:ext cx="2619375" cy="38100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EAA15B-6E1D-4EEB-B0F0-5EC085C53214}"/>
              </a:ext>
            </a:extLst>
          </p:cNvPr>
          <p:cNvSpPr>
            <a:spLocks noGrp="1"/>
          </p:cNvSpPr>
          <p:nvPr/>
        </p:nvSpPr>
        <p:spPr>
          <a:xfrm>
            <a:off x="2262188" y="3257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四元式骨架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B6E813-BD59-4A3D-B970-E1A06E46ED9A}"/>
              </a:ext>
            </a:extLst>
          </p:cNvPr>
          <p:cNvSpPr>
            <a:spLocks noGrp="1"/>
          </p:cNvSpPr>
          <p:nvPr/>
        </p:nvSpPr>
        <p:spPr>
          <a:xfrm>
            <a:off x="547688" y="3562350"/>
            <a:ext cx="1619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EA6F28-76A9-44CD-9072-C4B8BCDE6A16}"/>
              </a:ext>
            </a:extLst>
          </p:cNvPr>
          <p:cNvSpPr>
            <a:spLocks noGrp="1"/>
          </p:cNvSpPr>
          <p:nvPr/>
        </p:nvSpPr>
        <p:spPr>
          <a:xfrm>
            <a:off x="642938" y="3638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循环入口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05AA7E-8503-4F02-B92C-54BBF5390F3C}"/>
              </a:ext>
            </a:extLst>
          </p:cNvPr>
          <p:cNvSpPr>
            <a:spLocks noGrp="1"/>
          </p:cNvSpPr>
          <p:nvPr/>
        </p:nvSpPr>
        <p:spPr>
          <a:xfrm>
            <a:off x="2166938" y="3562350"/>
            <a:ext cx="261937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4CA240-F404-4983-A6C5-38812057F15F}"/>
              </a:ext>
            </a:extLst>
          </p:cNvPr>
          <p:cNvSpPr>
            <a:spLocks noGrp="1"/>
          </p:cNvSpPr>
          <p:nvPr/>
        </p:nvSpPr>
        <p:spPr>
          <a:xfrm>
            <a:off x="2262188" y="3638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LABEL L_begin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E7EC09-0E14-49D4-AFE1-A11E2249E656}"/>
              </a:ext>
            </a:extLst>
          </p:cNvPr>
          <p:cNvSpPr>
            <a:spLocks noGrp="1"/>
          </p:cNvSpPr>
          <p:nvPr/>
        </p:nvSpPr>
        <p:spPr>
          <a:xfrm>
            <a:off x="547688" y="3943350"/>
            <a:ext cx="1619250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0DC3E5-7DEF-47BD-B39B-0E31DF9507C6}"/>
              </a:ext>
            </a:extLst>
          </p:cNvPr>
          <p:cNvSpPr>
            <a:spLocks noGrp="1"/>
          </p:cNvSpPr>
          <p:nvPr/>
        </p:nvSpPr>
        <p:spPr>
          <a:xfrm>
            <a:off x="642938" y="4019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条件计算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6BE85D-7013-42D1-9055-48C75B4A32FE}"/>
              </a:ext>
            </a:extLst>
          </p:cNvPr>
          <p:cNvSpPr>
            <a:spLocks noGrp="1"/>
          </p:cNvSpPr>
          <p:nvPr/>
        </p:nvSpPr>
        <p:spPr>
          <a:xfrm>
            <a:off x="2166938" y="3943350"/>
            <a:ext cx="2619375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B283CC-84A5-4637-BE86-BF028E4E2AC6}"/>
              </a:ext>
            </a:extLst>
          </p:cNvPr>
          <p:cNvSpPr>
            <a:spLocks noGrp="1"/>
          </p:cNvSpPr>
          <p:nvPr/>
        </p:nvSpPr>
        <p:spPr>
          <a:xfrm>
            <a:off x="2262188" y="4019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&lt; x 10 -&gt; cond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BF686DE-EF14-42AA-9074-E28A751F94C3}"/>
              </a:ext>
            </a:extLst>
          </p:cNvPr>
          <p:cNvSpPr>
            <a:spLocks noGrp="1"/>
          </p:cNvSpPr>
          <p:nvPr/>
        </p:nvSpPr>
        <p:spPr>
          <a:xfrm>
            <a:off x="547688" y="4324350"/>
            <a:ext cx="1619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425CE4-A4A1-4280-A003-62DE1538FA36}"/>
              </a:ext>
            </a:extLst>
          </p:cNvPr>
          <p:cNvSpPr>
            <a:spLocks noGrp="1"/>
          </p:cNvSpPr>
          <p:nvPr/>
        </p:nvSpPr>
        <p:spPr>
          <a:xfrm>
            <a:off x="642938" y="4400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条件失败跳出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49AF7-1BF6-4A8C-80F4-2EA7A18556A3}"/>
              </a:ext>
            </a:extLst>
          </p:cNvPr>
          <p:cNvSpPr>
            <a:spLocks noGrp="1"/>
          </p:cNvSpPr>
          <p:nvPr/>
        </p:nvSpPr>
        <p:spPr>
          <a:xfrm>
            <a:off x="2166938" y="4324350"/>
            <a:ext cx="261937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12C85D-0F5A-4CD9-9F04-048ECB22EDEC}"/>
              </a:ext>
            </a:extLst>
          </p:cNvPr>
          <p:cNvSpPr>
            <a:spLocks noGrp="1"/>
          </p:cNvSpPr>
          <p:nvPr/>
        </p:nvSpPr>
        <p:spPr>
          <a:xfrm>
            <a:off x="2262188" y="4400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IF_FALSE cond L_end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E563BDB-8F7A-4ECB-BDE5-926ACDE37BCB}"/>
              </a:ext>
            </a:extLst>
          </p:cNvPr>
          <p:cNvSpPr>
            <a:spLocks noGrp="1"/>
          </p:cNvSpPr>
          <p:nvPr/>
        </p:nvSpPr>
        <p:spPr>
          <a:xfrm>
            <a:off x="547688" y="4705350"/>
            <a:ext cx="1619250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BE7905-B954-441A-94A0-0B0A833ADE6F}"/>
              </a:ext>
            </a:extLst>
          </p:cNvPr>
          <p:cNvSpPr>
            <a:spLocks noGrp="1"/>
          </p:cNvSpPr>
          <p:nvPr/>
        </p:nvSpPr>
        <p:spPr>
          <a:xfrm>
            <a:off x="642938" y="4781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循环体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8F66260-B1B6-4638-9FA2-29203866455D}"/>
              </a:ext>
            </a:extLst>
          </p:cNvPr>
          <p:cNvSpPr>
            <a:spLocks noGrp="1"/>
          </p:cNvSpPr>
          <p:nvPr/>
        </p:nvSpPr>
        <p:spPr>
          <a:xfrm>
            <a:off x="2166938" y="4705350"/>
            <a:ext cx="2619375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BA8E164-29EA-4A6B-9CDE-550BB0DC821C}"/>
              </a:ext>
            </a:extLst>
          </p:cNvPr>
          <p:cNvSpPr>
            <a:spLocks noGrp="1"/>
          </p:cNvSpPr>
          <p:nvPr/>
        </p:nvSpPr>
        <p:spPr>
          <a:xfrm>
            <a:off x="2262188" y="4781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+ / = ...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B5EA25-4BE2-4D3D-B2C3-3AC656F60D82}"/>
              </a:ext>
            </a:extLst>
          </p:cNvPr>
          <p:cNvSpPr>
            <a:spLocks noGrp="1"/>
          </p:cNvSpPr>
          <p:nvPr/>
        </p:nvSpPr>
        <p:spPr>
          <a:xfrm>
            <a:off x="547688" y="5086350"/>
            <a:ext cx="1619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445934E-BCCF-4D7E-AD03-34D44BA34C30}"/>
              </a:ext>
            </a:extLst>
          </p:cNvPr>
          <p:cNvSpPr>
            <a:spLocks noGrp="1"/>
          </p:cNvSpPr>
          <p:nvPr/>
        </p:nvSpPr>
        <p:spPr>
          <a:xfrm>
            <a:off x="642938" y="5162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回到入口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FC96D21-034B-4B68-9C86-D87FB8A6791E}"/>
              </a:ext>
            </a:extLst>
          </p:cNvPr>
          <p:cNvSpPr>
            <a:spLocks noGrp="1"/>
          </p:cNvSpPr>
          <p:nvPr/>
        </p:nvSpPr>
        <p:spPr>
          <a:xfrm>
            <a:off x="2166938" y="5086350"/>
            <a:ext cx="261937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1FD617-9503-4468-9F15-E7D79CBE1632}"/>
              </a:ext>
            </a:extLst>
          </p:cNvPr>
          <p:cNvSpPr>
            <a:spLocks noGrp="1"/>
          </p:cNvSpPr>
          <p:nvPr/>
        </p:nvSpPr>
        <p:spPr>
          <a:xfrm>
            <a:off x="2262188" y="5162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GOTO L_begin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53441A-F959-4C95-8415-3995449DC0F3}"/>
              </a:ext>
            </a:extLst>
          </p:cNvPr>
          <p:cNvSpPr>
            <a:spLocks noGrp="1"/>
          </p:cNvSpPr>
          <p:nvPr/>
        </p:nvSpPr>
        <p:spPr>
          <a:xfrm>
            <a:off x="547688" y="5467350"/>
            <a:ext cx="1619250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F59C665-348F-45CB-926E-BFCD6A3DB1B2}"/>
              </a:ext>
            </a:extLst>
          </p:cNvPr>
          <p:cNvSpPr>
            <a:spLocks noGrp="1"/>
          </p:cNvSpPr>
          <p:nvPr/>
        </p:nvSpPr>
        <p:spPr>
          <a:xfrm>
            <a:off x="642938" y="5543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循环出口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14D3ED0-6994-4B51-8F95-04F0E7B1979F}"/>
              </a:ext>
            </a:extLst>
          </p:cNvPr>
          <p:cNvSpPr>
            <a:spLocks noGrp="1"/>
          </p:cNvSpPr>
          <p:nvPr/>
        </p:nvSpPr>
        <p:spPr>
          <a:xfrm>
            <a:off x="2166938" y="5467350"/>
            <a:ext cx="2619375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799E64-8974-42A3-9320-D9822C8A04B7}"/>
              </a:ext>
            </a:extLst>
          </p:cNvPr>
          <p:cNvSpPr>
            <a:spLocks noGrp="1"/>
          </p:cNvSpPr>
          <p:nvPr/>
        </p:nvSpPr>
        <p:spPr>
          <a:xfrm>
            <a:off x="2262188" y="5543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LABEL L_end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05F8B3D-3AEB-4D48-BCDC-E9636A2DE4B5}"/>
              </a:ext>
            </a:extLst>
          </p:cNvPr>
          <p:cNvSpPr>
            <a:spLocks noGrp="1"/>
          </p:cNvSpPr>
          <p:nvPr/>
        </p:nvSpPr>
        <p:spPr>
          <a:xfrm>
            <a:off x="2963863" y="6086475"/>
            <a:ext cx="621665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结构化控制流最终被转换为标签和跳转，便于后续生成目标代码</a:t>
            </a:r>
            <a:r>
              <a:rPr sz="16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BB304D1-BDA2-493C-94B6-CB0FF62C39F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5E1B73D-7E22-4E70-9EE3-D2FFDB4B359A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00CE4A6-F9E0-491C-BD23-88F67DA1E606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7EF9BCF-F89E-FC61-6410-EBB34A618154}"/>
              </a:ext>
            </a:extLst>
          </p:cNvPr>
          <p:cNvSpPr>
            <a:spLocks noGrp="1"/>
          </p:cNvSpPr>
          <p:nvPr/>
        </p:nvSpPr>
        <p:spPr>
          <a:xfrm>
            <a:off x="5808662" y="1855787"/>
            <a:ext cx="5316538" cy="2822575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333C488-21ED-A218-B0C6-40289F45733F}"/>
              </a:ext>
            </a:extLst>
          </p:cNvPr>
          <p:cNvSpPr txBox="1"/>
          <p:nvPr/>
        </p:nvSpPr>
        <p:spPr>
          <a:xfrm>
            <a:off x="5862637" y="1855787"/>
            <a:ext cx="5262563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生成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while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的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IR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：创建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start/end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标签，求条件并在条件为假时跳到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end</a:t>
            </a:r>
            <a:endParaRPr lang="en-US" altLang="zh-CN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gen_while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label_start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new_label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label_end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new_label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emit_label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label_start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gen_expr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check_condition_type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"while"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gen_block_stmt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emit_goto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label_start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emit_label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label_end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68755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E80ACF1-F57A-4B2D-A347-ED4B18DD9D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E1DEC2-ED53-4177-B4BA-1DD120B187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677C88-1FED-42EA-9841-D8E4DCC9E19A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142875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61053B-E514-48F2-963E-03CFBD6EEB45}"/>
              </a:ext>
            </a:extLst>
          </p:cNvPr>
          <p:cNvSpPr>
            <a:spLocks noGrp="1"/>
          </p:cNvSpPr>
          <p:nvPr/>
        </p:nvSpPr>
        <p:spPr>
          <a:xfrm>
            <a:off x="2381250" y="1581150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扩展规则与实现亮点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459DE2-4B8E-4893-B7F6-633071F98FCD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6191250" cy="285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B246F8-82C1-4F8B-9D3C-C51D42836A3B}"/>
              </a:ext>
            </a:extLst>
          </p:cNvPr>
          <p:cNvSpPr>
            <a:spLocks noGrp="1"/>
          </p:cNvSpPr>
          <p:nvPr/>
        </p:nvSpPr>
        <p:spPr>
          <a:xfrm>
            <a:off x="2400300" y="28575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1725" b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在强制规则之外，项目实现了更接近 Rust 写法的控制流、复合类型和引用语义。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38381D-6A62-4BBA-808A-DAFEAE1835CA}"/>
              </a:ext>
            </a:extLst>
          </p:cNvPr>
          <p:cNvSpPr>
            <a:spLocks noGrp="1"/>
          </p:cNvSpPr>
          <p:nvPr/>
        </p:nvSpPr>
        <p:spPr>
          <a:xfrm>
            <a:off x="10191750" y="619125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</p:spTree>
    <p:extLst>
      <p:ext uri="{BB962C8B-B14F-4D97-AF65-F5344CB8AC3E}">
        <p14:creationId xmlns:p14="http://schemas.microsoft.com/office/powerpoint/2010/main" val="175693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4A67F87F-2FC7-468E-B117-8B7BFAC69F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E58E16-CEAC-40DE-BC83-DFCF221EC35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03 / Extended Control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1FCFD7-090D-40BD-8AB5-26B51070B50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扩展控制流：else / for / loop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149992-4C0D-4E44-AF77-9801B77389CF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597B1B-D79E-4153-89A8-F2BC8AF5FF61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C7379E-3729-45D1-AB67-473E125FCB32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D6C35D-B175-42D9-9537-BEF67DBAA14C}"/>
              </a:ext>
            </a:extLst>
          </p:cNvPr>
          <p:cNvSpPr>
            <a:spLocks noGrp="1"/>
          </p:cNvSpPr>
          <p:nvPr/>
        </p:nvSpPr>
        <p:spPr>
          <a:xfrm>
            <a:off x="1104900" y="177165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else / else if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5AE094-52DF-4D40-B624-5ACDD60CCE46}"/>
              </a:ext>
            </a:extLst>
          </p:cNvPr>
          <p:cNvSpPr>
            <a:spLocks noGrp="1"/>
          </p:cNvSpPr>
          <p:nvPr/>
        </p:nvSpPr>
        <p:spPr>
          <a:xfrm>
            <a:off x="1104900" y="2133600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生成 then、else 与汇合标签；else if 在 AST 中可作为嵌套 if 递归处理。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F17970-8A6D-4C0B-909E-10BF42101AFC}"/>
              </a:ext>
            </a:extLst>
          </p:cNvPr>
          <p:cNvSpPr>
            <a:spLocks noGrp="1"/>
          </p:cNvSpPr>
          <p:nvPr/>
        </p:nvSpPr>
        <p:spPr>
          <a:xfrm>
            <a:off x="6057900" y="1600200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5E44B2-5F14-4DF3-AAD1-2A5BFE526AAC}"/>
              </a:ext>
            </a:extLst>
          </p:cNvPr>
          <p:cNvSpPr>
            <a:spLocks noGrp="1"/>
          </p:cNvSpPr>
          <p:nvPr/>
        </p:nvSpPr>
        <p:spPr>
          <a:xfrm>
            <a:off x="6057900" y="1600200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946A2E-5AB4-413E-BF61-C7CABD6721EE}"/>
              </a:ext>
            </a:extLst>
          </p:cNvPr>
          <p:cNvSpPr>
            <a:spLocks noGrp="1"/>
          </p:cNvSpPr>
          <p:nvPr/>
        </p:nvSpPr>
        <p:spPr>
          <a:xfrm>
            <a:off x="6248400" y="177165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for i in a..b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75E5FD-6329-417F-B2B6-21A455724E53}"/>
              </a:ext>
            </a:extLst>
          </p:cNvPr>
          <p:cNvSpPr>
            <a:spLocks noGrp="1"/>
          </p:cNvSpPr>
          <p:nvPr/>
        </p:nvSpPr>
        <p:spPr>
          <a:xfrm>
            <a:off x="6248400" y="2133600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范围两端检查为整数；生成初始化、比较、自增和跳转四元式。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3703F1-8F0E-49FD-B94A-E9335E8AD0C6}"/>
              </a:ext>
            </a:extLst>
          </p:cNvPr>
          <p:cNvSpPr>
            <a:spLocks noGrp="1"/>
          </p:cNvSpPr>
          <p:nvPr/>
        </p:nvSpPr>
        <p:spPr>
          <a:xfrm>
            <a:off x="914400" y="307657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C6FD50-2261-4B97-854E-B77EFA647478}"/>
              </a:ext>
            </a:extLst>
          </p:cNvPr>
          <p:cNvSpPr>
            <a:spLocks noGrp="1"/>
          </p:cNvSpPr>
          <p:nvPr/>
        </p:nvSpPr>
        <p:spPr>
          <a:xfrm>
            <a:off x="914400" y="3076575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26D9B2-5B12-4E26-8ABF-27BD2C4A964A}"/>
              </a:ext>
            </a:extLst>
          </p:cNvPr>
          <p:cNvSpPr>
            <a:spLocks noGrp="1"/>
          </p:cNvSpPr>
          <p:nvPr/>
        </p:nvSpPr>
        <p:spPr>
          <a:xfrm>
            <a:off x="1104900" y="324802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loop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F20D39-5E34-4C7F-A11E-D1283EB12AF8}"/>
              </a:ext>
            </a:extLst>
          </p:cNvPr>
          <p:cNvSpPr>
            <a:spLocks noGrp="1"/>
          </p:cNvSpPr>
          <p:nvPr/>
        </p:nvSpPr>
        <p:spPr>
          <a:xfrm>
            <a:off x="1104900" y="360997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可作为语句或表达式；break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跳到循环出口，continue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跳到继续标签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50C578-95B9-472F-A6D3-A3B20C2C914B}"/>
              </a:ext>
            </a:extLst>
          </p:cNvPr>
          <p:cNvSpPr>
            <a:spLocks noGrp="1"/>
          </p:cNvSpPr>
          <p:nvPr/>
        </p:nvSpPr>
        <p:spPr>
          <a:xfrm>
            <a:off x="6057900" y="307657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22934A-A9C6-49C4-A13D-3A0A4B70C46C}"/>
              </a:ext>
            </a:extLst>
          </p:cNvPr>
          <p:cNvSpPr>
            <a:spLocks noGrp="1"/>
          </p:cNvSpPr>
          <p:nvPr/>
        </p:nvSpPr>
        <p:spPr>
          <a:xfrm>
            <a:off x="6057900" y="3076575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44E9F3-7E80-477A-866C-8E2CF7FE788E}"/>
              </a:ext>
            </a:extLst>
          </p:cNvPr>
          <p:cNvSpPr>
            <a:spLocks noGrp="1"/>
          </p:cNvSpPr>
          <p:nvPr/>
        </p:nvSpPr>
        <p:spPr>
          <a:xfrm>
            <a:off x="6248400" y="324802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break / continue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C75901-F7E5-47D0-A52F-057B52370F6C}"/>
              </a:ext>
            </a:extLst>
          </p:cNvPr>
          <p:cNvSpPr>
            <a:spLocks noGrp="1"/>
          </p:cNvSpPr>
          <p:nvPr/>
        </p:nvSpPr>
        <p:spPr>
          <a:xfrm>
            <a:off x="6248400" y="360997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检查必须位于循环体内；loop 表达式还会检查 break expr 类型一致。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F79B8D-327E-46A4-9E1D-AF3CC375CE0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331B8F6-4C66-4FA1-9123-D458D28FA337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4D2E763-43DC-4CC7-BFAE-66950964B428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58086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8CBA4F36-7448-4CD6-9029-A6D65F2B11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D55E28-6748-4D93-9899-30FA2031F46D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03 / Expression-Oriented Rust Subset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3FCA10-D3A2-4BA1-81E3-AB48B995D72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表达式块、if 表达式与 loop 表达式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FFF1DF-E919-40DF-8E30-D4A6FF86C0D9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3001E1-3D4B-4256-97B0-E56D88B148F6}"/>
              </a:ext>
            </a:extLst>
          </p:cNvPr>
          <p:cNvSpPr>
            <a:spLocks noGrp="1"/>
          </p:cNvSpPr>
          <p:nvPr/>
        </p:nvSpPr>
        <p:spPr>
          <a:xfrm>
            <a:off x="552450" y="1252538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F3130F-5274-41E4-9100-22B36EA344EA}"/>
              </a:ext>
            </a:extLst>
          </p:cNvPr>
          <p:cNvSpPr>
            <a:spLocks noGrp="1"/>
          </p:cNvSpPr>
          <p:nvPr/>
        </p:nvSpPr>
        <p:spPr>
          <a:xfrm>
            <a:off x="552450" y="1252538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1E729D-0B56-4738-9950-C04109AEC887}"/>
              </a:ext>
            </a:extLst>
          </p:cNvPr>
          <p:cNvSpPr>
            <a:spLocks noGrp="1"/>
          </p:cNvSpPr>
          <p:nvPr/>
        </p:nvSpPr>
        <p:spPr>
          <a:xfrm>
            <a:off x="742950" y="1423988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表达式块</a:t>
            </a:r>
            <a:endParaRPr sz="15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8936A7-A178-49A0-8BCF-8CC3AFE53ACE}"/>
              </a:ext>
            </a:extLst>
          </p:cNvPr>
          <p:cNvSpPr>
            <a:spLocks noGrp="1"/>
          </p:cNvSpPr>
          <p:nvPr/>
        </p:nvSpPr>
        <p:spPr>
          <a:xfrm>
            <a:off x="742950" y="1785938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块允许包含语句串和尾表达式；尾表达式决定块的结果类型。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E356FB-A686-4A07-AE2F-6C32AC7D1DAC}"/>
              </a:ext>
            </a:extLst>
          </p:cNvPr>
          <p:cNvSpPr>
            <a:spLocks noGrp="1"/>
          </p:cNvSpPr>
          <p:nvPr/>
        </p:nvSpPr>
        <p:spPr>
          <a:xfrm>
            <a:off x="561975" y="3919538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E67D3B-26CB-4534-BF38-27640B33F095}"/>
              </a:ext>
            </a:extLst>
          </p:cNvPr>
          <p:cNvSpPr>
            <a:spLocks noGrp="1"/>
          </p:cNvSpPr>
          <p:nvPr/>
        </p:nvSpPr>
        <p:spPr>
          <a:xfrm>
            <a:off x="561975" y="3919538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10E2E6-0046-4BC8-B24A-A07B76F97223}"/>
              </a:ext>
            </a:extLst>
          </p:cNvPr>
          <p:cNvSpPr>
            <a:spLocks noGrp="1"/>
          </p:cNvSpPr>
          <p:nvPr/>
        </p:nvSpPr>
        <p:spPr>
          <a:xfrm>
            <a:off x="752475" y="4090988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if 表达式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D605B7-8E61-460F-A80C-64EE675156FC}"/>
              </a:ext>
            </a:extLst>
          </p:cNvPr>
          <p:cNvSpPr>
            <a:spLocks noGrp="1"/>
          </p:cNvSpPr>
          <p:nvPr/>
        </p:nvSpPr>
        <p:spPr>
          <a:xfrm>
            <a:off x="752475" y="4452938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两个分支都产生值时，必须检查分支类型一致。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1DFA46-3857-4473-9D4D-703995B751CA}"/>
              </a:ext>
            </a:extLst>
          </p:cNvPr>
          <p:cNvSpPr>
            <a:spLocks noGrp="1"/>
          </p:cNvSpPr>
          <p:nvPr/>
        </p:nvSpPr>
        <p:spPr>
          <a:xfrm>
            <a:off x="561975" y="2586038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DFFB39-5100-41E9-B728-F7F07CB39E96}"/>
              </a:ext>
            </a:extLst>
          </p:cNvPr>
          <p:cNvSpPr>
            <a:spLocks noGrp="1"/>
          </p:cNvSpPr>
          <p:nvPr/>
        </p:nvSpPr>
        <p:spPr>
          <a:xfrm>
            <a:off x="561975" y="2586038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BFD434-E333-4A0D-BDE5-5CC20C131DC6}"/>
              </a:ext>
            </a:extLst>
          </p:cNvPr>
          <p:cNvSpPr>
            <a:spLocks noGrp="1"/>
          </p:cNvSpPr>
          <p:nvPr/>
        </p:nvSpPr>
        <p:spPr>
          <a:xfrm>
            <a:off x="752475" y="2757488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loop 表达式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82581F-792B-4FE9-9155-B9B180CC2654}"/>
              </a:ext>
            </a:extLst>
          </p:cNvPr>
          <p:cNvSpPr>
            <a:spLocks noGrp="1"/>
          </p:cNvSpPr>
          <p:nvPr/>
        </p:nvSpPr>
        <p:spPr>
          <a:xfrm>
            <a:off x="752475" y="3119438"/>
            <a:ext cx="44259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loop { break expr; } 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可作为表达式使用，break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expr 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提供结果类型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8278B2-45C4-4784-BD8F-E5FE48892F4A}"/>
              </a:ext>
            </a:extLst>
          </p:cNvPr>
          <p:cNvSpPr>
            <a:spLocks noGrp="1"/>
          </p:cNvSpPr>
          <p:nvPr/>
        </p:nvSpPr>
        <p:spPr>
          <a:xfrm>
            <a:off x="552450" y="5200650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D0A676-F0A5-4D7B-BF21-E6657CC439BE}"/>
              </a:ext>
            </a:extLst>
          </p:cNvPr>
          <p:cNvSpPr>
            <a:spLocks noGrp="1"/>
          </p:cNvSpPr>
          <p:nvPr/>
        </p:nvSpPr>
        <p:spPr>
          <a:xfrm>
            <a:off x="552450" y="5200650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8E3626-1516-4716-8C10-1657118C9DD4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类型一致性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C3BEAF-848D-487B-B727-C3F50527234F}"/>
              </a:ext>
            </a:extLst>
          </p:cNvPr>
          <p:cNvSpPr>
            <a:spLocks noGrp="1"/>
          </p:cNvSpPr>
          <p:nvPr/>
        </p:nvSpPr>
        <p:spPr>
          <a:xfrm>
            <a:off x="742950" y="5734050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多个 break expr 类型不一致时给出语义错误，避免错误值流入赋值。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D8F7A1A-372B-4501-B9E0-11B4E9081EAA}"/>
              </a:ext>
            </a:extLst>
          </p:cNvPr>
          <p:cNvSpPr>
            <a:spLocks noGrp="1"/>
          </p:cNvSpPr>
          <p:nvPr/>
        </p:nvSpPr>
        <p:spPr>
          <a:xfrm>
            <a:off x="6134100" y="1252539"/>
            <a:ext cx="4076700" cy="11620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B8C2CC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3389D5F-ABE7-41D3-8624-AF7F6DDEC60A}"/>
              </a:ext>
            </a:extLst>
          </p:cNvPr>
          <p:cNvSpPr>
            <a:spLocks noGrp="1"/>
          </p:cNvSpPr>
          <p:nvPr/>
        </p:nvSpPr>
        <p:spPr>
          <a:xfrm>
            <a:off x="6318250" y="1289052"/>
            <a:ext cx="2844800" cy="1068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let x:i32 = { let t:i32 = 1; t + 2 };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let y:i32 = if x &gt; 0 { x } else { 0 };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let z:i32 = loop {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if y &gt; 2 { break y; }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break 3;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1DFE7E7-B7C8-42B4-A520-A9FE7459BC6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91AF59-E726-4261-A9DA-92ABA9DAA4E6}"/>
              </a:ext>
            </a:extLst>
          </p:cNvPr>
          <p:cNvSpPr>
            <a:spLocks noGrp="1"/>
          </p:cNvSpPr>
          <p:nvPr/>
        </p:nvSpPr>
        <p:spPr>
          <a:xfrm>
            <a:off x="552450" y="6569075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</a:t>
            </a:r>
            <a:r>
              <a:rPr sz="825" b="0" dirty="0" err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编译前端与中间代码生成器</a:t>
            </a:r>
            <a:endParaRPr sz="825" b="0" dirty="0">
              <a:solidFill>
                <a:srgbClr val="6666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DEF0C9-8798-43C1-B489-F81D102E3A9B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775B3D49-FC9C-D57E-D211-718132FF8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2505585"/>
            <a:ext cx="4629150" cy="3875653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C3A703F3-3A27-F3AA-1F91-0EE5457EE148}"/>
              </a:ext>
            </a:extLst>
          </p:cNvPr>
          <p:cNvSpPr>
            <a:spLocks noGrp="1"/>
          </p:cNvSpPr>
          <p:nvPr/>
        </p:nvSpPr>
        <p:spPr>
          <a:xfrm>
            <a:off x="10344150" y="1289052"/>
            <a:ext cx="1562100" cy="3672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输入程序</a:t>
            </a:r>
            <a:endParaRPr sz="15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34700D-4A51-7EB9-08F1-FDE91586F7D4}"/>
              </a:ext>
            </a:extLst>
          </p:cNvPr>
          <p:cNvSpPr>
            <a:spLocks noGrp="1"/>
          </p:cNvSpPr>
          <p:nvPr/>
        </p:nvSpPr>
        <p:spPr>
          <a:xfrm>
            <a:off x="10848975" y="2533141"/>
            <a:ext cx="1562100" cy="3672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四元式结果</a:t>
            </a:r>
            <a:endParaRPr sz="15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84557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99AF83A-DFF6-4647-BCEA-D6DC0954AA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07737D-0419-4E79-B5D4-F49FD09E45EA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03 / Mutability &amp; References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FDC06F-58D2-4E49-8527-2B7F18270B8B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不可变变量与引用检查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937E16-FB68-4A88-A784-B080B7B37AB6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888412-CA5F-4DEB-90BA-9398553615B3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FE431A-F931-4BCD-A852-68EA58FD00AC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15BD9C-C7D7-4867-A012-DA4DCCE058F6}"/>
              </a:ext>
            </a:extLst>
          </p:cNvPr>
          <p:cNvSpPr>
            <a:spLocks noGrp="1"/>
          </p:cNvSpPr>
          <p:nvPr/>
        </p:nvSpPr>
        <p:spPr>
          <a:xfrm>
            <a:off x="1104900" y="177165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不可变变量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07C0AB-2C44-42F1-9569-5AAC9EE3BD4D}"/>
              </a:ext>
            </a:extLst>
          </p:cNvPr>
          <p:cNvSpPr>
            <a:spLocks noGrp="1"/>
          </p:cNvSpPr>
          <p:nvPr/>
        </p:nvSpPr>
        <p:spPr>
          <a:xfrm>
            <a:off x="1104900" y="2133600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未标注 mut 的变量初始化后禁止再次赋值，数组/元组元素写入也检查根变量可变性。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975B50-EAFD-4CF7-8200-8629EF2E99C9}"/>
              </a:ext>
            </a:extLst>
          </p:cNvPr>
          <p:cNvSpPr>
            <a:spLocks noGrp="1"/>
          </p:cNvSpPr>
          <p:nvPr/>
        </p:nvSpPr>
        <p:spPr>
          <a:xfrm>
            <a:off x="6057900" y="1600200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96D61C-097F-44DF-BEAF-4D0C998F3980}"/>
              </a:ext>
            </a:extLst>
          </p:cNvPr>
          <p:cNvSpPr>
            <a:spLocks noGrp="1"/>
          </p:cNvSpPr>
          <p:nvPr/>
        </p:nvSpPr>
        <p:spPr>
          <a:xfrm>
            <a:off x="6057900" y="1600200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94E5C8-EB73-4E9F-BF8E-68A9A60817DA}"/>
              </a:ext>
            </a:extLst>
          </p:cNvPr>
          <p:cNvSpPr>
            <a:spLocks noGrp="1"/>
          </p:cNvSpPr>
          <p:nvPr/>
        </p:nvSpPr>
        <p:spPr>
          <a:xfrm>
            <a:off x="6248400" y="177165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不可变引用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8D8DA4-2FB4-45AA-9D06-F0220A11748C}"/>
              </a:ext>
            </a:extLst>
          </p:cNvPr>
          <p:cNvSpPr>
            <a:spLocks noGrp="1"/>
          </p:cNvSpPr>
          <p:nvPr/>
        </p:nvSpPr>
        <p:spPr>
          <a:xfrm>
            <a:off x="6248400" y="2133600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&amp;T 和 &amp;x；可读取，不能通过不可变引用写入。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B06261-DC3D-4404-A7E3-DC5F6E4D0A49}"/>
              </a:ext>
            </a:extLst>
          </p:cNvPr>
          <p:cNvSpPr>
            <a:spLocks noGrp="1"/>
          </p:cNvSpPr>
          <p:nvPr/>
        </p:nvSpPr>
        <p:spPr>
          <a:xfrm>
            <a:off x="914400" y="307657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3AA869-6542-4C67-925B-3BBA4F867C1C}"/>
              </a:ext>
            </a:extLst>
          </p:cNvPr>
          <p:cNvSpPr>
            <a:spLocks noGrp="1"/>
          </p:cNvSpPr>
          <p:nvPr/>
        </p:nvSpPr>
        <p:spPr>
          <a:xfrm>
            <a:off x="914400" y="3076575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E50CE8-8364-4241-8365-FAF480D64A6A}"/>
              </a:ext>
            </a:extLst>
          </p:cNvPr>
          <p:cNvSpPr>
            <a:spLocks noGrp="1"/>
          </p:cNvSpPr>
          <p:nvPr/>
        </p:nvSpPr>
        <p:spPr>
          <a:xfrm>
            <a:off x="1104900" y="324802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可变引用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F617A3-2619-4FF2-84C6-8511532CB9E7}"/>
              </a:ext>
            </a:extLst>
          </p:cNvPr>
          <p:cNvSpPr>
            <a:spLocks noGrp="1"/>
          </p:cNvSpPr>
          <p:nvPr/>
        </p:nvSpPr>
        <p:spPr>
          <a:xfrm>
            <a:off x="1104900" y="360997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&amp;mut T 和 &amp;mut x；要求根变量可变，并检查基础借用冲突。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DFC30F-1ECC-4048-8661-80C12FF12735}"/>
              </a:ext>
            </a:extLst>
          </p:cNvPr>
          <p:cNvSpPr>
            <a:spLocks noGrp="1"/>
          </p:cNvSpPr>
          <p:nvPr/>
        </p:nvSpPr>
        <p:spPr>
          <a:xfrm>
            <a:off x="6057900" y="307657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438EFA-3735-47B4-A645-F4731672B21F}"/>
              </a:ext>
            </a:extLst>
          </p:cNvPr>
          <p:cNvSpPr>
            <a:spLocks noGrp="1"/>
          </p:cNvSpPr>
          <p:nvPr/>
        </p:nvSpPr>
        <p:spPr>
          <a:xfrm>
            <a:off x="6057900" y="3076575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74E3BD-D9D5-45BB-8208-85911CF19EEE}"/>
              </a:ext>
            </a:extLst>
          </p:cNvPr>
          <p:cNvSpPr>
            <a:spLocks noGrp="1"/>
          </p:cNvSpPr>
          <p:nvPr/>
        </p:nvSpPr>
        <p:spPr>
          <a:xfrm>
            <a:off x="6248400" y="324802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解引用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1E67004-DE3C-42AE-A3D6-4433D77BAA8E}"/>
              </a:ext>
            </a:extLst>
          </p:cNvPr>
          <p:cNvSpPr>
            <a:spLocks noGrp="1"/>
          </p:cNvSpPr>
          <p:nvPr/>
        </p:nvSpPr>
        <p:spPr>
          <a:xfrm>
            <a:off x="6248400" y="360997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*p 读写；对非引用解引用、通过不可变引用写入均报错。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3B2CE9-CB65-4EE3-A73F-F27931E16B9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65A3D-BF82-442F-87B2-4195C4594EE5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995C78-3D02-4476-97D2-107F399C365B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60511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19F44BA-7E9D-4279-85EE-7AEB022EFE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1511EC-3ED1-49A1-B2C0-DFF12CF6757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03 / Arrays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8F8D86-29C8-4DA4-98B9-F8BFFC07624A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数组类型、数组表达式与数组元素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5580BC-3C88-45E5-9CC6-CC126F72DD6A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CAF1F-A020-407B-9DC4-65F33DFB04DF}"/>
              </a:ext>
            </a:extLst>
          </p:cNvPr>
          <p:cNvSpPr>
            <a:spLocks noGrp="1"/>
          </p:cNvSpPr>
          <p:nvPr/>
        </p:nvSpPr>
        <p:spPr>
          <a:xfrm>
            <a:off x="552450" y="134302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C2F65A-1DCB-4F5B-A597-FF2304D1AB49}"/>
              </a:ext>
            </a:extLst>
          </p:cNvPr>
          <p:cNvSpPr>
            <a:spLocks noGrp="1"/>
          </p:cNvSpPr>
          <p:nvPr/>
        </p:nvSpPr>
        <p:spPr>
          <a:xfrm>
            <a:off x="552450" y="1343025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6B7548-0F20-4352-A1C5-E2ADEF1CE90D}"/>
              </a:ext>
            </a:extLst>
          </p:cNvPr>
          <p:cNvSpPr>
            <a:spLocks noGrp="1"/>
          </p:cNvSpPr>
          <p:nvPr/>
        </p:nvSpPr>
        <p:spPr>
          <a:xfrm>
            <a:off x="742950" y="151447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数组类型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9E2C4F-C1AE-482E-B0F0-DE5B68D49527}"/>
              </a:ext>
            </a:extLst>
          </p:cNvPr>
          <p:cNvSpPr>
            <a:spLocks noGrp="1"/>
          </p:cNvSpPr>
          <p:nvPr/>
        </p:nvSpPr>
        <p:spPr>
          <a:xfrm>
            <a:off x="742950" y="187642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[T; N] 和嵌套数组类型；N 按 PPT 要求必须是正整数常量。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37F75D-43FF-4F36-9C8C-96704264A365}"/>
              </a:ext>
            </a:extLst>
          </p:cNvPr>
          <p:cNvSpPr>
            <a:spLocks noGrp="1"/>
          </p:cNvSpPr>
          <p:nvPr/>
        </p:nvSpPr>
        <p:spPr>
          <a:xfrm>
            <a:off x="552450" y="2557027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3851A3-EB93-487E-B1E0-9091590F3A6B}"/>
              </a:ext>
            </a:extLst>
          </p:cNvPr>
          <p:cNvSpPr>
            <a:spLocks noGrp="1"/>
          </p:cNvSpPr>
          <p:nvPr/>
        </p:nvSpPr>
        <p:spPr>
          <a:xfrm>
            <a:off x="552450" y="2557027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62660E-C0D2-4D97-AEA6-C519570A45A0}"/>
              </a:ext>
            </a:extLst>
          </p:cNvPr>
          <p:cNvSpPr>
            <a:spLocks noGrp="1"/>
          </p:cNvSpPr>
          <p:nvPr/>
        </p:nvSpPr>
        <p:spPr>
          <a:xfrm>
            <a:off x="742950" y="2728477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数组字面量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0148EA-B1AA-445B-AC4F-1E0FA950550C}"/>
              </a:ext>
            </a:extLst>
          </p:cNvPr>
          <p:cNvSpPr>
            <a:spLocks noGrp="1"/>
          </p:cNvSpPr>
          <p:nvPr/>
        </p:nvSpPr>
        <p:spPr>
          <a:xfrm>
            <a:off x="742950" y="3090427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检查元素类型一致，并与声明中的元素类型和长度匹配。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04B55C-9FD9-4987-AB5D-EBE110E8C4D6}"/>
              </a:ext>
            </a:extLst>
          </p:cNvPr>
          <p:cNvSpPr>
            <a:spLocks noGrp="1"/>
          </p:cNvSpPr>
          <p:nvPr/>
        </p:nvSpPr>
        <p:spPr>
          <a:xfrm>
            <a:off x="552450" y="507682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38FA72-FAFE-4496-BAED-D427DE67F056}"/>
              </a:ext>
            </a:extLst>
          </p:cNvPr>
          <p:cNvSpPr>
            <a:spLocks noGrp="1"/>
          </p:cNvSpPr>
          <p:nvPr/>
        </p:nvSpPr>
        <p:spPr>
          <a:xfrm>
            <a:off x="552450" y="5076825"/>
            <a:ext cx="76200" cy="11620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396333-E2A0-49A9-8FB5-0F54DCA55551}"/>
              </a:ext>
            </a:extLst>
          </p:cNvPr>
          <p:cNvSpPr>
            <a:spLocks noGrp="1"/>
          </p:cNvSpPr>
          <p:nvPr/>
        </p:nvSpPr>
        <p:spPr>
          <a:xfrm>
            <a:off x="742950" y="524827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元素读写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61A519-9791-4F7E-B678-9D52338152C7}"/>
              </a:ext>
            </a:extLst>
          </p:cNvPr>
          <p:cNvSpPr>
            <a:spLocks noGrp="1"/>
          </p:cNvSpPr>
          <p:nvPr/>
        </p:nvSpPr>
        <p:spPr>
          <a:xfrm>
            <a:off x="742950" y="5610225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a[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] 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可读取、参与计算，也可作为左值写入；写入时检查根变量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mut。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5C7162-6515-4646-BDB7-997939FC6208}"/>
              </a:ext>
            </a:extLst>
          </p:cNvPr>
          <p:cNvSpPr>
            <a:spLocks noGrp="1"/>
          </p:cNvSpPr>
          <p:nvPr/>
        </p:nvSpPr>
        <p:spPr>
          <a:xfrm>
            <a:off x="552450" y="3816926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45CE12-E46C-4E21-A208-22F82C0DBE0F}"/>
              </a:ext>
            </a:extLst>
          </p:cNvPr>
          <p:cNvSpPr>
            <a:spLocks noGrp="1"/>
          </p:cNvSpPr>
          <p:nvPr/>
        </p:nvSpPr>
        <p:spPr>
          <a:xfrm>
            <a:off x="552450" y="3816926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C7D35B-7F65-45BB-8809-956BD6966AF3}"/>
              </a:ext>
            </a:extLst>
          </p:cNvPr>
          <p:cNvSpPr>
            <a:spLocks noGrp="1"/>
          </p:cNvSpPr>
          <p:nvPr/>
        </p:nvSpPr>
        <p:spPr>
          <a:xfrm>
            <a:off x="742950" y="3988376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补齐点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FCC2C27-0F78-4F0D-96FF-934DDF9A53A5}"/>
              </a:ext>
            </a:extLst>
          </p:cNvPr>
          <p:cNvSpPr>
            <a:spLocks noGrp="1"/>
          </p:cNvSpPr>
          <p:nvPr/>
        </p:nvSpPr>
        <p:spPr>
          <a:xfrm>
            <a:off x="742950" y="4350326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[T; 0] 与 let a = [] 均报语义错误，避免零长度数组和空数组误推断。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308925-76D0-4A75-B83C-D994F75FA2BA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D63CBC-A918-4BBB-98C1-498A09633F4A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8DBC61-F8F0-4DD3-8364-C97A51354E75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69BBEDB-D526-A492-9B5D-F79AD48C4940}"/>
              </a:ext>
            </a:extLst>
          </p:cNvPr>
          <p:cNvSpPr>
            <a:spLocks noGrp="1"/>
          </p:cNvSpPr>
          <p:nvPr/>
        </p:nvSpPr>
        <p:spPr>
          <a:xfrm>
            <a:off x="5692775" y="1648916"/>
            <a:ext cx="5432425" cy="3560168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CB2ADF8-872B-98F8-8ECD-0B6C9B69B11A}"/>
              </a:ext>
            </a:extLst>
          </p:cNvPr>
          <p:cNvSpPr txBox="1"/>
          <p:nvPr/>
        </p:nvSpPr>
        <p:spPr>
          <a:xfrm>
            <a:off x="5692775" y="1648916"/>
            <a:ext cx="5689600" cy="3688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数组字面量生成</a:t>
            </a:r>
            <a:endParaRPr lang="en-US" altLang="zh-CN" sz="12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空数组字面量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`[]`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没有元素可推断类型，用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Error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作元素类型，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inferred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u="sng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elem_ty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unwrap_or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elements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lnSpc>
                <a:spcPts val="1425"/>
              </a:lnSpc>
              <a:buNone/>
            </a:pP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new_temp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拆为严格四元式形式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——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先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ARRAY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声明，再逐元素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`[]=`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。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"ARRAY"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elements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places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into_iter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"[]="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11471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37088B02-5CFB-43BD-A4C7-4B5934392E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14AE9D-A37A-4D34-A09C-059E6FD3DFC4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03 / Tuples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295B3C-16C5-4E56-8583-9C8939875CF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元组类型、元组表达式与字段访问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B4CF16-E48A-4DEC-8EF7-09C34E6DFABA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521A2D-E8C4-474D-B834-D88F36B1E6A4}"/>
              </a:ext>
            </a:extLst>
          </p:cNvPr>
          <p:cNvSpPr>
            <a:spLocks noGrp="1"/>
          </p:cNvSpPr>
          <p:nvPr/>
        </p:nvSpPr>
        <p:spPr>
          <a:xfrm>
            <a:off x="552450" y="1290638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33DC29-3667-43AE-B620-FF62B7F311BD}"/>
              </a:ext>
            </a:extLst>
          </p:cNvPr>
          <p:cNvSpPr>
            <a:spLocks noGrp="1"/>
          </p:cNvSpPr>
          <p:nvPr/>
        </p:nvSpPr>
        <p:spPr>
          <a:xfrm>
            <a:off x="552450" y="1290638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A1882C-5FE0-45AA-B156-54D9C2EC1EC4}"/>
              </a:ext>
            </a:extLst>
          </p:cNvPr>
          <p:cNvSpPr>
            <a:spLocks noGrp="1"/>
          </p:cNvSpPr>
          <p:nvPr/>
        </p:nvSpPr>
        <p:spPr>
          <a:xfrm>
            <a:off x="742950" y="1462088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元组类型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FAC062-C626-46F3-B806-67900575110F}"/>
              </a:ext>
            </a:extLst>
          </p:cNvPr>
          <p:cNvSpPr>
            <a:spLocks noGrp="1"/>
          </p:cNvSpPr>
          <p:nvPr/>
        </p:nvSpPr>
        <p:spPr>
          <a:xfrm>
            <a:off x="742950" y="1824038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()、(T,) 和 (T1,T2,...)，并保留每个元素的类型。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2877AF-2AF8-4CF8-8644-D310C987E210}"/>
              </a:ext>
            </a:extLst>
          </p:cNvPr>
          <p:cNvSpPr>
            <a:spLocks noGrp="1"/>
          </p:cNvSpPr>
          <p:nvPr/>
        </p:nvSpPr>
        <p:spPr>
          <a:xfrm>
            <a:off x="546100" y="258127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6650C1-1DB1-4835-A6DE-AEA42295717F}"/>
              </a:ext>
            </a:extLst>
          </p:cNvPr>
          <p:cNvSpPr>
            <a:spLocks noGrp="1"/>
          </p:cNvSpPr>
          <p:nvPr/>
        </p:nvSpPr>
        <p:spPr>
          <a:xfrm>
            <a:off x="546100" y="2581275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80D3A9-4150-462B-9260-C006E7289E8D}"/>
              </a:ext>
            </a:extLst>
          </p:cNvPr>
          <p:cNvSpPr>
            <a:spLocks noGrp="1"/>
          </p:cNvSpPr>
          <p:nvPr/>
        </p:nvSpPr>
        <p:spPr>
          <a:xfrm>
            <a:off x="736600" y="275272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元组表达式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3EBA3D-26B0-4C72-B9F8-B30FABEDA0EC}"/>
              </a:ext>
            </a:extLst>
          </p:cNvPr>
          <p:cNvSpPr>
            <a:spLocks noGrp="1"/>
          </p:cNvSpPr>
          <p:nvPr/>
        </p:nvSpPr>
        <p:spPr>
          <a:xfrm>
            <a:off x="736600" y="311467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支持元组字面量，检查声明类型与表达式结构匹配。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47AC55-B5C1-433C-A51F-79B701F228D8}"/>
              </a:ext>
            </a:extLst>
          </p:cNvPr>
          <p:cNvSpPr>
            <a:spLocks noGrp="1"/>
          </p:cNvSpPr>
          <p:nvPr/>
        </p:nvSpPr>
        <p:spPr>
          <a:xfrm>
            <a:off x="546100" y="3938588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159E2B-3630-443F-B4C3-CB3DC2FE6EDE}"/>
              </a:ext>
            </a:extLst>
          </p:cNvPr>
          <p:cNvSpPr>
            <a:spLocks noGrp="1"/>
          </p:cNvSpPr>
          <p:nvPr/>
        </p:nvSpPr>
        <p:spPr>
          <a:xfrm>
            <a:off x="546100" y="3938588"/>
            <a:ext cx="76200" cy="11620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DC6CA9-4E79-4B3D-B723-617731676D5C}"/>
              </a:ext>
            </a:extLst>
          </p:cNvPr>
          <p:cNvSpPr>
            <a:spLocks noGrp="1"/>
          </p:cNvSpPr>
          <p:nvPr/>
        </p:nvSpPr>
        <p:spPr>
          <a:xfrm>
            <a:off x="736600" y="4110038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字段访问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46E5CD-4C5A-424C-B5CA-03FA4ECE6226}"/>
              </a:ext>
            </a:extLst>
          </p:cNvPr>
          <p:cNvSpPr>
            <a:spLocks noGrp="1"/>
          </p:cNvSpPr>
          <p:nvPr/>
        </p:nvSpPr>
        <p:spPr>
          <a:xfrm>
            <a:off x="736600" y="4471988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tuple.0 可读取并参与表达式，也可以作为左值写入。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F2750-9332-4395-9F46-09129711A706}"/>
              </a:ext>
            </a:extLst>
          </p:cNvPr>
          <p:cNvSpPr>
            <a:spLocks noGrp="1"/>
          </p:cNvSpPr>
          <p:nvPr/>
        </p:nvSpPr>
        <p:spPr>
          <a:xfrm>
            <a:off x="552450" y="521017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F325DB6-CE0B-47F2-834A-83DC59898269}"/>
              </a:ext>
            </a:extLst>
          </p:cNvPr>
          <p:cNvSpPr>
            <a:spLocks noGrp="1"/>
          </p:cNvSpPr>
          <p:nvPr/>
        </p:nvSpPr>
        <p:spPr>
          <a:xfrm>
            <a:off x="552450" y="5210175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8C96D45-85F5-46B5-9FA7-C0FB1D8E0530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错误检查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0A8282-1643-48CF-89F1-ED9FE4C1B94D}"/>
              </a:ext>
            </a:extLst>
          </p:cNvPr>
          <p:cNvSpPr>
            <a:spLocks noGrp="1"/>
          </p:cNvSpPr>
          <p:nvPr/>
        </p:nvSpPr>
        <p:spPr>
          <a:xfrm>
            <a:off x="742950" y="574357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字段越界、字段赋值类型不一致、不可变元组字段写入均会报错。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CA7B76-1107-4E6B-A955-4F58C8526D21}"/>
              </a:ext>
            </a:extLst>
          </p:cNvPr>
          <p:cNvSpPr>
            <a:spLocks noGrp="1"/>
          </p:cNvSpPr>
          <p:nvPr/>
        </p:nvSpPr>
        <p:spPr>
          <a:xfrm>
            <a:off x="6235700" y="1304925"/>
            <a:ext cx="4121150" cy="952500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863075-FDE0-4AD1-8FCC-5FB7AB909BB2}"/>
              </a:ext>
            </a:extLst>
          </p:cNvPr>
          <p:cNvSpPr>
            <a:spLocks noGrp="1"/>
          </p:cNvSpPr>
          <p:nvPr/>
        </p:nvSpPr>
        <p:spPr>
          <a:xfrm>
            <a:off x="6407150" y="1457325"/>
            <a:ext cx="361315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let mut t:(i32,i32,i32) = (1,2,3);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let s:i32 = t.0 + t.1 + t.2;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t.0 = s;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// errors: t.3, immutable tuple field assignment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4185C5C-ECBE-4A20-A6DF-2B62F2536A6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060A87-C6AB-4502-8C59-D102EEBC6EF8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4FE18D0-D66D-49EF-9F54-7CD2D5C126A0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E746DF5-42AA-E3BF-7E37-25CECDEE4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0" y="2504969"/>
            <a:ext cx="4489046" cy="2624243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6915197-7449-9C30-567D-34E1DE1386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750"/>
          <a:stretch>
            <a:fillRect/>
          </a:stretch>
        </p:blipFill>
        <p:spPr>
          <a:xfrm>
            <a:off x="6235700" y="5297463"/>
            <a:ext cx="4489046" cy="1138262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141ACEDF-3F11-60FB-CDC2-F44AAD50BCEC}"/>
              </a:ext>
            </a:extLst>
          </p:cNvPr>
          <p:cNvSpPr>
            <a:spLocks noGrp="1"/>
          </p:cNvSpPr>
          <p:nvPr/>
        </p:nvSpPr>
        <p:spPr>
          <a:xfrm>
            <a:off x="10493375" y="1306489"/>
            <a:ext cx="1562100" cy="5873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输入程序</a:t>
            </a:r>
            <a:endParaRPr lang="en-US" altLang="zh-CN" sz="15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（错误案例简写）</a:t>
            </a:r>
            <a:endParaRPr sz="15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729587C-CC72-58A1-0ABA-FE9BC234B0DA}"/>
              </a:ext>
            </a:extLst>
          </p:cNvPr>
          <p:cNvSpPr>
            <a:spLocks noGrp="1"/>
          </p:cNvSpPr>
          <p:nvPr/>
        </p:nvSpPr>
        <p:spPr>
          <a:xfrm>
            <a:off x="11017250" y="2697301"/>
            <a:ext cx="955675" cy="5873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Microsoft YaHei"/>
                <a:ea typeface="Microsoft YaHei"/>
                <a:cs typeface="Microsoft YaHei"/>
              </a:rPr>
              <a:t>正确输入</a:t>
            </a:r>
            <a:endParaRPr lang="en-US" altLang="zh-CN" sz="1200" b="1" dirty="0">
              <a:solidFill>
                <a:schemeClr val="tx2">
                  <a:lumMod val="90000"/>
                  <a:lumOff val="10000"/>
                </a:schemeClr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Microsoft YaHei"/>
                <a:ea typeface="Microsoft YaHei"/>
                <a:cs typeface="Microsoft YaHei"/>
              </a:rPr>
              <a:t>对应四元式</a:t>
            </a:r>
            <a:endParaRPr sz="1500" b="1" dirty="0">
              <a:solidFill>
                <a:schemeClr val="tx2">
                  <a:lumMod val="90000"/>
                  <a:lumOff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E1B585C-7A51-2D0A-DB9B-E4426D649F35}"/>
              </a:ext>
            </a:extLst>
          </p:cNvPr>
          <p:cNvSpPr>
            <a:spLocks noGrp="1"/>
          </p:cNvSpPr>
          <p:nvPr/>
        </p:nvSpPr>
        <p:spPr>
          <a:xfrm>
            <a:off x="11017250" y="5381625"/>
            <a:ext cx="955675" cy="5873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错误输入</a:t>
            </a:r>
            <a:endParaRPr lang="en-US" altLang="zh-CN" sz="12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对应报错</a:t>
            </a:r>
            <a:endParaRPr sz="15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61602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9C9E6A5-9A5B-49A0-AEC6-D608832D13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41A0FF-8056-4A85-BC06-C694CFF48D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9C0CD4-21D0-41AA-90D1-2B1A839CB223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142875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40578C-7025-48CF-B312-93ED5F7EBF3B}"/>
              </a:ext>
            </a:extLst>
          </p:cNvPr>
          <p:cNvSpPr>
            <a:spLocks noGrp="1"/>
          </p:cNvSpPr>
          <p:nvPr/>
        </p:nvSpPr>
        <p:spPr>
          <a:xfrm>
            <a:off x="2381250" y="1581150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测试验证与展示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F94E02-8DD1-44C7-943B-D6B706813CA5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6191250" cy="285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BF13E1-80B8-4D54-AFBF-28CB76134431}"/>
              </a:ext>
            </a:extLst>
          </p:cNvPr>
          <p:cNvSpPr>
            <a:spLocks noGrp="1"/>
          </p:cNvSpPr>
          <p:nvPr/>
        </p:nvSpPr>
        <p:spPr>
          <a:xfrm>
            <a:off x="2400300" y="28575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1725" b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通过规则矩阵测试和</a:t>
            </a:r>
            <a:r>
              <a:rPr sz="1725" b="0" dirty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 Web </a:t>
            </a:r>
            <a:r>
              <a:rPr sz="1725" b="0" dirty="0" err="1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展示验证实现结果，让完成度可复查、可演示</a:t>
            </a:r>
            <a:endParaRPr sz="1725" b="0" dirty="0">
              <a:solidFill>
                <a:srgbClr val="E8F0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58C0FA-7164-457E-B877-17940D9D576D}"/>
              </a:ext>
            </a:extLst>
          </p:cNvPr>
          <p:cNvSpPr>
            <a:spLocks noGrp="1"/>
          </p:cNvSpPr>
          <p:nvPr/>
        </p:nvSpPr>
        <p:spPr>
          <a:xfrm>
            <a:off x="10191750" y="619125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</p:spTree>
    <p:extLst>
      <p:ext uri="{BB962C8B-B14F-4D97-AF65-F5344CB8AC3E}">
        <p14:creationId xmlns:p14="http://schemas.microsoft.com/office/powerpoint/2010/main" val="866416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183853E5-15E0-41A1-B3C1-47C0E62EC6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5BF3FB-22AD-448B-9772-530E6B27FA47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04 / Verification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AACB08-D063-4FEE-B05F-09F08D7AD2B2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测试体系与通过结果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7A3292-9CF2-4A32-852C-1CCBD249F4A7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7D6BF9-FD47-4DE7-9698-89E77AA6EF8F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000250" cy="5524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C8D134-7E82-41E1-B8AC-D2E00D26E3CA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943514-14AF-4EDF-8B8A-CF492D7AA078}"/>
              </a:ext>
            </a:extLst>
          </p:cNvPr>
          <p:cNvSpPr>
            <a:spLocks noGrp="1"/>
          </p:cNvSpPr>
          <p:nvPr/>
        </p:nvSpPr>
        <p:spPr>
          <a:xfrm>
            <a:off x="2686050" y="1619250"/>
            <a:ext cx="3143250" cy="5524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DA55D7-5C76-4C09-BA75-063C48B95BAB}"/>
              </a:ext>
            </a:extLst>
          </p:cNvPr>
          <p:cNvSpPr>
            <a:spLocks noGrp="1"/>
          </p:cNvSpPr>
          <p:nvPr/>
        </p:nvSpPr>
        <p:spPr>
          <a:xfrm>
            <a:off x="2781300" y="1695450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覆盖重点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8D0831-9A7F-47B8-9645-A116242387DC}"/>
              </a:ext>
            </a:extLst>
          </p:cNvPr>
          <p:cNvSpPr>
            <a:spLocks noGrp="1"/>
          </p:cNvSpPr>
          <p:nvPr/>
        </p:nvSpPr>
        <p:spPr>
          <a:xfrm>
            <a:off x="5829300" y="1619250"/>
            <a:ext cx="1428750" cy="5524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038134-7C1F-464B-8D0B-B0E644DAC060}"/>
              </a:ext>
            </a:extLst>
          </p:cNvPr>
          <p:cNvSpPr>
            <a:spLocks noGrp="1"/>
          </p:cNvSpPr>
          <p:nvPr/>
        </p:nvSpPr>
        <p:spPr>
          <a:xfrm>
            <a:off x="5924550" y="1695450"/>
            <a:ext cx="12382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当前结果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36E9E8-7E76-49FF-B057-9EAC1157F3D2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51E02A-1CCB-48AA-A1A3-312D46468C93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requirements_coverage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EB0046-0247-4453-8073-787DAF1B705D}"/>
              </a:ext>
            </a:extLst>
          </p:cNvPr>
          <p:cNvSpPr>
            <a:spLocks noGrp="1"/>
          </p:cNvSpPr>
          <p:nvPr/>
        </p:nvSpPr>
        <p:spPr>
          <a:xfrm>
            <a:off x="2686050" y="217170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F54C0A-1937-4613-8E9E-5F5F16D277E9}"/>
              </a:ext>
            </a:extLst>
          </p:cNvPr>
          <p:cNvSpPr>
            <a:spLocks noGrp="1"/>
          </p:cNvSpPr>
          <p:nvPr/>
        </p:nvSpPr>
        <p:spPr>
          <a:xfrm>
            <a:off x="2781300" y="2247900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作业二强制规则与核心语义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BCD8A3-CB83-4B8A-86EA-E4F0CB6C3105}"/>
              </a:ext>
            </a:extLst>
          </p:cNvPr>
          <p:cNvSpPr>
            <a:spLocks noGrp="1"/>
          </p:cNvSpPr>
          <p:nvPr/>
        </p:nvSpPr>
        <p:spPr>
          <a:xfrm>
            <a:off x="5829300" y="21717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BDA895-3EDE-46B7-B60B-D3B1A6048A61}"/>
              </a:ext>
            </a:extLst>
          </p:cNvPr>
          <p:cNvSpPr>
            <a:spLocks noGrp="1"/>
          </p:cNvSpPr>
          <p:nvPr/>
        </p:nvSpPr>
        <p:spPr>
          <a:xfrm>
            <a:off x="5924550" y="2247900"/>
            <a:ext cx="12382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8 passed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2A6B36-C470-45FC-8175-2060F2195C74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000250" cy="5524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1BB415-0F25-44A6-8860-28E74E829041}"/>
              </a:ext>
            </a:extLst>
          </p:cNvPr>
          <p:cNvSpPr>
            <a:spLocks noGrp="1"/>
          </p:cNvSpPr>
          <p:nvPr/>
        </p:nvSpPr>
        <p:spPr>
          <a:xfrm>
            <a:off x="781050" y="2800350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assignment2_ppt_matrix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C05DF4-285F-4FE7-A85A-B326096A2DE4}"/>
              </a:ext>
            </a:extLst>
          </p:cNvPr>
          <p:cNvSpPr>
            <a:spLocks noGrp="1"/>
          </p:cNvSpPr>
          <p:nvPr/>
        </p:nvSpPr>
        <p:spPr>
          <a:xfrm>
            <a:off x="2686050" y="2724150"/>
            <a:ext cx="3143250" cy="5524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977F89-2247-4E56-A097-DB16CCC7EF54}"/>
              </a:ext>
            </a:extLst>
          </p:cNvPr>
          <p:cNvSpPr>
            <a:spLocks noGrp="1"/>
          </p:cNvSpPr>
          <p:nvPr/>
        </p:nvSpPr>
        <p:spPr>
          <a:xfrm>
            <a:off x="2781300" y="2800350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PPT 规则矩阵与扩展行为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6EE75E-5A6D-42DF-AB83-4374823BDD27}"/>
              </a:ext>
            </a:extLst>
          </p:cNvPr>
          <p:cNvSpPr>
            <a:spLocks noGrp="1"/>
          </p:cNvSpPr>
          <p:nvPr/>
        </p:nvSpPr>
        <p:spPr>
          <a:xfrm>
            <a:off x="5829300" y="2724150"/>
            <a:ext cx="1428750" cy="5524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18C8500-0A06-49ED-B135-A7A59E8150D2}"/>
              </a:ext>
            </a:extLst>
          </p:cNvPr>
          <p:cNvSpPr>
            <a:spLocks noGrp="1"/>
          </p:cNvSpPr>
          <p:nvPr/>
        </p:nvSpPr>
        <p:spPr>
          <a:xfrm>
            <a:off x="5924550" y="2800350"/>
            <a:ext cx="12382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 passed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F7CC6B-9DC6-405C-A4B5-10443F4F3EC4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ACB44F-F722-4499-964F-B470FA88F7F9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bug_fixes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54D6DCD-4BD1-4932-8C2B-D3CC60516CEA}"/>
              </a:ext>
            </a:extLst>
          </p:cNvPr>
          <p:cNvSpPr>
            <a:spLocks noGrp="1"/>
          </p:cNvSpPr>
          <p:nvPr/>
        </p:nvSpPr>
        <p:spPr>
          <a:xfrm>
            <a:off x="2686050" y="327660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C412560-095E-4CAA-B19E-EEF896DD5F74}"/>
              </a:ext>
            </a:extLst>
          </p:cNvPr>
          <p:cNvSpPr>
            <a:spLocks noGrp="1"/>
          </p:cNvSpPr>
          <p:nvPr/>
        </p:nvSpPr>
        <p:spPr>
          <a:xfrm>
            <a:off x="2781300" y="3352800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历史 bug、边界行为与回归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7B575CF-197B-4618-AB8A-E495BE51252C}"/>
              </a:ext>
            </a:extLst>
          </p:cNvPr>
          <p:cNvSpPr>
            <a:spLocks noGrp="1"/>
          </p:cNvSpPr>
          <p:nvPr/>
        </p:nvSpPr>
        <p:spPr>
          <a:xfrm>
            <a:off x="5829300" y="32766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0A2A483-9E07-479F-AD22-98A7BFFB88BB}"/>
              </a:ext>
            </a:extLst>
          </p:cNvPr>
          <p:cNvSpPr>
            <a:spLocks noGrp="1"/>
          </p:cNvSpPr>
          <p:nvPr/>
        </p:nvSpPr>
        <p:spPr>
          <a:xfrm>
            <a:off x="5924550" y="3352800"/>
            <a:ext cx="12382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41 passed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C65F2E1-06D7-40D4-A36C-A6492FA955B9}"/>
              </a:ext>
            </a:extLst>
          </p:cNvPr>
          <p:cNvSpPr>
            <a:spLocks noGrp="1"/>
          </p:cNvSpPr>
          <p:nvPr/>
        </p:nvSpPr>
        <p:spPr>
          <a:xfrm>
            <a:off x="552450" y="3968842"/>
            <a:ext cx="11264900" cy="245100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9525">
            <a:solidFill>
              <a:srgbClr val="1F2937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819AF3B-CD25-457A-B0CA-DA3E1A1469D0}"/>
              </a:ext>
            </a:extLst>
          </p:cNvPr>
          <p:cNvSpPr>
            <a:spLocks noGrp="1"/>
          </p:cNvSpPr>
          <p:nvPr/>
        </p:nvSpPr>
        <p:spPr>
          <a:xfrm>
            <a:off x="637992" y="3986400"/>
            <a:ext cx="27622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rPr>
              <a:t>PowerShell / Cargo </a:t>
            </a:r>
            <a:r>
              <a:rPr sz="1050" b="1" dirty="0" err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rPr>
              <a:t>输出</a:t>
            </a:r>
            <a:endParaRPr sz="1050" b="1" dirty="0">
              <a:solidFill>
                <a:srgbClr val="A7F3D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89299CD-D4C4-40BD-98CD-1CFA1659C334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F1FCFD2-D3F8-4C62-AD4F-747166FFAD2A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7D9CF43-1D29-43DD-AFC5-B96D1F0A7238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AB219460-E384-57E5-41AE-A6460F642A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7"/>
          <a:stretch>
            <a:fillRect/>
          </a:stretch>
        </p:blipFill>
        <p:spPr>
          <a:xfrm>
            <a:off x="770541" y="4262625"/>
            <a:ext cx="5058759" cy="1951594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3A89F97-A8F1-3875-6333-EDB2B010A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841" y="4262625"/>
            <a:ext cx="5434709" cy="195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42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F7706595-BB33-4500-8AFF-C1D7E84D4BA2}"/>
              </a:ext>
            </a:extLst>
          </p:cNvPr>
          <p:cNvSpPr>
            <a:spLocks noGrp="1"/>
          </p:cNvSpPr>
          <p:nvPr/>
        </p:nvSpPr>
        <p:spPr>
          <a:xfrm>
            <a:off x="-3175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517C92-4404-4FBC-8781-DF8FD9450E0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04 / Demo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0D926B-1F14-477B-A003-433CFD76C450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Web </a:t>
            </a:r>
            <a:r>
              <a:rPr sz="24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展示流程</a:t>
            </a:r>
            <a:r>
              <a:rPr lang="zh-CN" altLang="en-US" sz="24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与结果</a:t>
            </a:r>
            <a:endParaRPr sz="24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552DF2-7FEC-4222-A01C-1E5E7FA8F846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D1AEBB-8048-4467-BDBC-D7D41928B6EC}"/>
              </a:ext>
            </a:extLst>
          </p:cNvPr>
          <p:cNvSpPr>
            <a:spLocks noGrp="1"/>
          </p:cNvSpPr>
          <p:nvPr/>
        </p:nvSpPr>
        <p:spPr>
          <a:xfrm>
            <a:off x="1504950" y="1276350"/>
            <a:ext cx="1809750" cy="106680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6F284A-4667-49E8-BEC9-EFCBA21C4A8B}"/>
              </a:ext>
            </a:extLst>
          </p:cNvPr>
          <p:cNvSpPr>
            <a:spLocks noGrp="1"/>
          </p:cNvSpPr>
          <p:nvPr/>
        </p:nvSpPr>
        <p:spPr>
          <a:xfrm>
            <a:off x="1638300" y="1466850"/>
            <a:ext cx="1543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输入程序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DEED3C-2ACD-42AD-AC51-869368991462}"/>
              </a:ext>
            </a:extLst>
          </p:cNvPr>
          <p:cNvSpPr>
            <a:spLocks noGrp="1"/>
          </p:cNvSpPr>
          <p:nvPr/>
        </p:nvSpPr>
        <p:spPr>
          <a:xfrm>
            <a:off x="1638300" y="1828800"/>
            <a:ext cx="15430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粘贴类 Rust 源码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51B332-2FC7-43C9-8FE1-615AC9DEEBAB}"/>
              </a:ext>
            </a:extLst>
          </p:cNvPr>
          <p:cNvSpPr>
            <a:spLocks noGrp="1"/>
          </p:cNvSpPr>
          <p:nvPr/>
        </p:nvSpPr>
        <p:spPr>
          <a:xfrm>
            <a:off x="3409950" y="1790700"/>
            <a:ext cx="3619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FA6190-2C3B-417D-B561-6ABA86F5C998}"/>
              </a:ext>
            </a:extLst>
          </p:cNvPr>
          <p:cNvSpPr>
            <a:spLocks noGrp="1"/>
          </p:cNvSpPr>
          <p:nvPr/>
        </p:nvSpPr>
        <p:spPr>
          <a:xfrm>
            <a:off x="3714750" y="16478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153526-2723-4A85-ACB3-0536C2152C8B}"/>
              </a:ext>
            </a:extLst>
          </p:cNvPr>
          <p:cNvSpPr>
            <a:spLocks noGrp="1"/>
          </p:cNvSpPr>
          <p:nvPr/>
        </p:nvSpPr>
        <p:spPr>
          <a:xfrm>
            <a:off x="3886200" y="1276350"/>
            <a:ext cx="1809750" cy="1066800"/>
          </a:xfrm>
          <a:prstGeom prst="rect">
            <a:avLst/>
          </a:prstGeom>
          <a:solidFill>
            <a:srgbClr val="EAF2FB"/>
          </a:solidFill>
          <a:ln w="19050">
            <a:solidFill>
              <a:srgbClr val="C00000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A66F05-55A2-44F1-B9A8-7CC964799BAE}"/>
              </a:ext>
            </a:extLst>
          </p:cNvPr>
          <p:cNvSpPr>
            <a:spLocks noGrp="1"/>
          </p:cNvSpPr>
          <p:nvPr/>
        </p:nvSpPr>
        <p:spPr>
          <a:xfrm>
            <a:off x="4019550" y="1466850"/>
            <a:ext cx="1543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前端服务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53B07A-305E-4B05-AB95-20FB4B7804FC}"/>
              </a:ext>
            </a:extLst>
          </p:cNvPr>
          <p:cNvSpPr>
            <a:spLocks noGrp="1"/>
          </p:cNvSpPr>
          <p:nvPr/>
        </p:nvSpPr>
        <p:spPr>
          <a:xfrm>
            <a:off x="4019550" y="1828800"/>
            <a:ext cx="15430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调用 lexer/parser/analyzer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17994-1198-410B-A6CF-A0E91DF5AD53}"/>
              </a:ext>
            </a:extLst>
          </p:cNvPr>
          <p:cNvSpPr>
            <a:spLocks noGrp="1"/>
          </p:cNvSpPr>
          <p:nvPr/>
        </p:nvSpPr>
        <p:spPr>
          <a:xfrm>
            <a:off x="5788025" y="1784350"/>
            <a:ext cx="3619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EB815D-E453-4653-9509-60B31726A496}"/>
              </a:ext>
            </a:extLst>
          </p:cNvPr>
          <p:cNvSpPr>
            <a:spLocks noGrp="1"/>
          </p:cNvSpPr>
          <p:nvPr/>
        </p:nvSpPr>
        <p:spPr>
          <a:xfrm>
            <a:off x="6092825" y="1638300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D172E6-388E-43A4-916F-8A414FFA4BF4}"/>
              </a:ext>
            </a:extLst>
          </p:cNvPr>
          <p:cNvSpPr>
            <a:spLocks noGrp="1"/>
          </p:cNvSpPr>
          <p:nvPr/>
        </p:nvSpPr>
        <p:spPr>
          <a:xfrm>
            <a:off x="6267450" y="1276350"/>
            <a:ext cx="1809750" cy="106680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798B40-113E-48F6-B67F-DD7CA046C52F}"/>
              </a:ext>
            </a:extLst>
          </p:cNvPr>
          <p:cNvSpPr>
            <a:spLocks noGrp="1"/>
          </p:cNvSpPr>
          <p:nvPr/>
        </p:nvSpPr>
        <p:spPr>
          <a:xfrm>
            <a:off x="6400800" y="1466850"/>
            <a:ext cx="1543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查看结果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C159F1-4FEC-4EEF-A531-09F93C70EA6D}"/>
              </a:ext>
            </a:extLst>
          </p:cNvPr>
          <p:cNvSpPr>
            <a:spLocks noGrp="1"/>
          </p:cNvSpPr>
          <p:nvPr/>
        </p:nvSpPr>
        <p:spPr>
          <a:xfrm>
            <a:off x="6400800" y="1828800"/>
            <a:ext cx="15430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token、AST、错误、IR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BEDABC-BA9E-4730-B00D-DB0490C01E0E}"/>
              </a:ext>
            </a:extLst>
          </p:cNvPr>
          <p:cNvSpPr>
            <a:spLocks noGrp="1"/>
          </p:cNvSpPr>
          <p:nvPr/>
        </p:nvSpPr>
        <p:spPr>
          <a:xfrm>
            <a:off x="8172450" y="1790700"/>
            <a:ext cx="3619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1BA113-0517-4C86-B22E-282E9E0604F3}"/>
              </a:ext>
            </a:extLst>
          </p:cNvPr>
          <p:cNvSpPr>
            <a:spLocks noGrp="1"/>
          </p:cNvSpPr>
          <p:nvPr/>
        </p:nvSpPr>
        <p:spPr>
          <a:xfrm>
            <a:off x="8477250" y="16478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B9D794-D624-4401-A2F3-8D85BDC433D0}"/>
              </a:ext>
            </a:extLst>
          </p:cNvPr>
          <p:cNvSpPr>
            <a:spLocks noGrp="1"/>
          </p:cNvSpPr>
          <p:nvPr/>
        </p:nvSpPr>
        <p:spPr>
          <a:xfrm>
            <a:off x="8648700" y="1276350"/>
            <a:ext cx="1809750" cy="106680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A52941-EDD1-43DA-90D0-98A04EBEE84F}"/>
              </a:ext>
            </a:extLst>
          </p:cNvPr>
          <p:cNvSpPr>
            <a:spLocks noGrp="1"/>
          </p:cNvSpPr>
          <p:nvPr/>
        </p:nvSpPr>
        <p:spPr>
          <a:xfrm>
            <a:off x="8782050" y="1466850"/>
            <a:ext cx="1543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切换样例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C191B6-083A-4592-9BBE-1C214171D590}"/>
              </a:ext>
            </a:extLst>
          </p:cNvPr>
          <p:cNvSpPr>
            <a:spLocks noGrp="1"/>
          </p:cNvSpPr>
          <p:nvPr/>
        </p:nvSpPr>
        <p:spPr>
          <a:xfrm>
            <a:off x="8782050" y="1828800"/>
            <a:ext cx="15430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正确/错误/扩展规则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E548925-2AB3-4ABB-9EE3-4B20E2CB493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3D875D6-4F55-4796-A67B-D10C01ECA6B9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390782D-E368-4695-B5E4-4CDC493565A5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AA4C07B-98D5-826A-B9BE-E5C5154DCCE0}"/>
              </a:ext>
            </a:extLst>
          </p:cNvPr>
          <p:cNvSpPr>
            <a:spLocks noGrp="1"/>
          </p:cNvSpPr>
          <p:nvPr/>
        </p:nvSpPr>
        <p:spPr>
          <a:xfrm>
            <a:off x="1159289" y="3169523"/>
            <a:ext cx="3063586" cy="194310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B8C2CC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DE568DB-EB36-2AE3-EE1A-0D35B29510E1}"/>
              </a:ext>
            </a:extLst>
          </p:cNvPr>
          <p:cNvSpPr>
            <a:spLocks noGrp="1"/>
          </p:cNvSpPr>
          <p:nvPr/>
        </p:nvSpPr>
        <p:spPr>
          <a:xfrm>
            <a:off x="1308968" y="3251278"/>
            <a:ext cx="3002972" cy="177958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mut a:[i32;3] = [1,2,3];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mut t:(i32,i32) = (a[0], 4);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for </a:t>
            </a:r>
            <a:r>
              <a:rPr lang="en-US" sz="1125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in 0..3 {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    a[</a:t>
            </a:r>
            <a:r>
              <a:rPr lang="en-US" sz="1125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] = a[</a:t>
            </a:r>
            <a:r>
              <a:rPr lang="en-US" sz="1125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] + t.1;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t.0 = a[1];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</a:t>
            </a:r>
            <a:endParaRPr sz="1125" b="0" dirty="0">
              <a:solidFill>
                <a:srgbClr val="1F2933"/>
              </a:solidFill>
              <a:latin typeface="Consolas"/>
              <a:ea typeface="Consolas"/>
              <a:cs typeface="Consola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CA9F9925-8266-1B9E-3E2F-3626937CC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950" y="2499401"/>
            <a:ext cx="3429000" cy="3547987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EAA0A3B3-6733-47B5-9616-A77FF5271524}"/>
              </a:ext>
            </a:extLst>
          </p:cNvPr>
          <p:cNvSpPr txBox="1"/>
          <p:nvPr/>
        </p:nvSpPr>
        <p:spPr>
          <a:xfrm>
            <a:off x="2265614" y="5303124"/>
            <a:ext cx="1266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输入程序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0194BD5-7ACC-B70A-1988-9D7F69909FC0}"/>
              </a:ext>
            </a:extLst>
          </p:cNvPr>
          <p:cNvSpPr txBox="1"/>
          <p:nvPr/>
        </p:nvSpPr>
        <p:spPr>
          <a:xfrm>
            <a:off x="5694614" y="6047388"/>
            <a:ext cx="1266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Token</a:t>
            </a:r>
            <a:r>
              <a:rPr lang="zh-CN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BDFF17DE-E24E-2FFF-5916-C7A72ACDF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025" y="2499401"/>
            <a:ext cx="2368425" cy="3559175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EEFFF28C-D628-2AF5-CBE2-0E8C1F5F72DA}"/>
              </a:ext>
            </a:extLst>
          </p:cNvPr>
          <p:cNvSpPr txBox="1"/>
          <p:nvPr/>
        </p:nvSpPr>
        <p:spPr>
          <a:xfrm>
            <a:off x="8982654" y="6093023"/>
            <a:ext cx="1266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AST</a:t>
            </a:r>
            <a:r>
              <a:rPr lang="zh-CN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460735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5EE53-B324-EB21-A6DB-142DACBF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E0CEB7-8AF9-62E6-4953-E15003AC67B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04 / Demo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69F4F9-6B0F-EEB0-0BAE-158BEAB0BB2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Web </a:t>
            </a:r>
            <a:r>
              <a:rPr sz="24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展示</a:t>
            </a:r>
            <a:r>
              <a:rPr lang="zh-CN" altLang="en-US" sz="24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流程与结果</a:t>
            </a:r>
            <a:endParaRPr sz="24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0CFDDB-A560-A484-0114-701591CCF8A3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FD6686-7F89-F431-4AC0-37CEDF6B6735}"/>
              </a:ext>
            </a:extLst>
          </p:cNvPr>
          <p:cNvSpPr>
            <a:spLocks noGrp="1"/>
          </p:cNvSpPr>
          <p:nvPr/>
        </p:nvSpPr>
        <p:spPr>
          <a:xfrm>
            <a:off x="2684875" y="5272088"/>
            <a:ext cx="1428750" cy="3619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C621E1-47E9-ECF4-8093-5418456395D7}"/>
              </a:ext>
            </a:extLst>
          </p:cNvPr>
          <p:cNvSpPr>
            <a:spLocks noGrp="1"/>
          </p:cNvSpPr>
          <p:nvPr/>
        </p:nvSpPr>
        <p:spPr>
          <a:xfrm>
            <a:off x="2780125" y="5348288"/>
            <a:ext cx="12382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演示样例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6AFD532-0C3F-ACA9-B4A6-D53246342BAE}"/>
              </a:ext>
            </a:extLst>
          </p:cNvPr>
          <p:cNvSpPr>
            <a:spLocks noGrp="1"/>
          </p:cNvSpPr>
          <p:nvPr/>
        </p:nvSpPr>
        <p:spPr>
          <a:xfrm>
            <a:off x="4113625" y="5272088"/>
            <a:ext cx="2333625" cy="3619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80CDD8-54D1-E986-29CF-48D01214D6F5}"/>
              </a:ext>
            </a:extLst>
          </p:cNvPr>
          <p:cNvSpPr>
            <a:spLocks noGrp="1"/>
          </p:cNvSpPr>
          <p:nvPr/>
        </p:nvSpPr>
        <p:spPr>
          <a:xfrm>
            <a:off x="4208875" y="5348288"/>
            <a:ext cx="2143125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观察重点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D0D029-C65C-4286-CD1D-D0F8FA7C0363}"/>
              </a:ext>
            </a:extLst>
          </p:cNvPr>
          <p:cNvSpPr>
            <a:spLocks noGrp="1"/>
          </p:cNvSpPr>
          <p:nvPr/>
        </p:nvSpPr>
        <p:spPr>
          <a:xfrm>
            <a:off x="6447250" y="5272088"/>
            <a:ext cx="2381250" cy="3619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C729C0-2D55-2A0E-B620-15C09A837799}"/>
              </a:ext>
            </a:extLst>
          </p:cNvPr>
          <p:cNvSpPr>
            <a:spLocks noGrp="1"/>
          </p:cNvSpPr>
          <p:nvPr/>
        </p:nvSpPr>
        <p:spPr>
          <a:xfrm>
            <a:off x="6542500" y="5348288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预期现象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EBBACC-4214-F014-DF99-67CC744DC2DC}"/>
              </a:ext>
            </a:extLst>
          </p:cNvPr>
          <p:cNvSpPr>
            <a:spLocks noGrp="1"/>
          </p:cNvSpPr>
          <p:nvPr/>
        </p:nvSpPr>
        <p:spPr>
          <a:xfrm>
            <a:off x="2684875" y="5634038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4A51F02-E8E6-8FA4-0683-96F3E80023F1}"/>
              </a:ext>
            </a:extLst>
          </p:cNvPr>
          <p:cNvSpPr>
            <a:spLocks noGrp="1"/>
          </p:cNvSpPr>
          <p:nvPr/>
        </p:nvSpPr>
        <p:spPr>
          <a:xfrm>
            <a:off x="2780125" y="5710238"/>
            <a:ext cx="12382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正确程序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DD066D3-7B28-0A0F-8605-EADB35EFCEBD}"/>
              </a:ext>
            </a:extLst>
          </p:cNvPr>
          <p:cNvSpPr>
            <a:spLocks noGrp="1"/>
          </p:cNvSpPr>
          <p:nvPr/>
        </p:nvSpPr>
        <p:spPr>
          <a:xfrm>
            <a:off x="4113625" y="5634038"/>
            <a:ext cx="23336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C21C15C-F7B2-D680-06A8-17E3B63D4938}"/>
              </a:ext>
            </a:extLst>
          </p:cNvPr>
          <p:cNvSpPr>
            <a:spLocks noGrp="1"/>
          </p:cNvSpPr>
          <p:nvPr/>
        </p:nvSpPr>
        <p:spPr>
          <a:xfrm>
            <a:off x="4208875" y="5710238"/>
            <a:ext cx="2143125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函数、变量、while、return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26AA6B6-C1F0-D124-0E39-A5B5A957ED2B}"/>
              </a:ext>
            </a:extLst>
          </p:cNvPr>
          <p:cNvSpPr>
            <a:spLocks noGrp="1"/>
          </p:cNvSpPr>
          <p:nvPr/>
        </p:nvSpPr>
        <p:spPr>
          <a:xfrm>
            <a:off x="6447250" y="5634038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12DC075-A56C-70A5-200E-41FCE1495E3B}"/>
              </a:ext>
            </a:extLst>
          </p:cNvPr>
          <p:cNvSpPr>
            <a:spLocks noGrp="1"/>
          </p:cNvSpPr>
          <p:nvPr/>
        </p:nvSpPr>
        <p:spPr>
          <a:xfrm>
            <a:off x="6542500" y="5710238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生成核心四元式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CCC805C-D995-AA5F-73E7-2FF43A8F43D1}"/>
              </a:ext>
            </a:extLst>
          </p:cNvPr>
          <p:cNvSpPr>
            <a:spLocks noGrp="1"/>
          </p:cNvSpPr>
          <p:nvPr/>
        </p:nvSpPr>
        <p:spPr>
          <a:xfrm>
            <a:off x="2684875" y="5995988"/>
            <a:ext cx="1428750" cy="3619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238971-804E-F240-C420-8D4C5CFDE8E0}"/>
              </a:ext>
            </a:extLst>
          </p:cNvPr>
          <p:cNvSpPr>
            <a:spLocks noGrp="1"/>
          </p:cNvSpPr>
          <p:nvPr/>
        </p:nvSpPr>
        <p:spPr>
          <a:xfrm>
            <a:off x="2780125" y="6072188"/>
            <a:ext cx="12382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错误程序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60AA2E7-3C5A-267B-634F-F62025732C11}"/>
              </a:ext>
            </a:extLst>
          </p:cNvPr>
          <p:cNvSpPr>
            <a:spLocks noGrp="1"/>
          </p:cNvSpPr>
          <p:nvPr/>
        </p:nvSpPr>
        <p:spPr>
          <a:xfrm>
            <a:off x="4113625" y="5995988"/>
            <a:ext cx="2333625" cy="3619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2796F1B-1BA5-B553-E705-6C633B07DAA3}"/>
              </a:ext>
            </a:extLst>
          </p:cNvPr>
          <p:cNvSpPr>
            <a:spLocks noGrp="1"/>
          </p:cNvSpPr>
          <p:nvPr/>
        </p:nvSpPr>
        <p:spPr>
          <a:xfrm>
            <a:off x="4208875" y="6072188"/>
            <a:ext cx="2143125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类型、未声明、不可变赋值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79B86DF-109C-5EE9-60BB-3217C2FE5C66}"/>
              </a:ext>
            </a:extLst>
          </p:cNvPr>
          <p:cNvSpPr>
            <a:spLocks noGrp="1"/>
          </p:cNvSpPr>
          <p:nvPr/>
        </p:nvSpPr>
        <p:spPr>
          <a:xfrm>
            <a:off x="6447250" y="5995988"/>
            <a:ext cx="2381250" cy="3619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877DACC-BF08-78FF-33C8-D1CA83296255}"/>
              </a:ext>
            </a:extLst>
          </p:cNvPr>
          <p:cNvSpPr>
            <a:spLocks noGrp="1"/>
          </p:cNvSpPr>
          <p:nvPr/>
        </p:nvSpPr>
        <p:spPr>
          <a:xfrm>
            <a:off x="6542500" y="6072188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semanticErrors 非空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7DE0B6E-23D0-04B3-31F8-E9AE816253E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172D185-6587-2612-EB39-8B09595E9F61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FBC5344-B730-D5F5-4238-50C6F087E944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69F378C2-160D-E7D9-D478-66443E01E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67" b="58896"/>
          <a:stretch>
            <a:fillRect/>
          </a:stretch>
        </p:blipFill>
        <p:spPr>
          <a:xfrm>
            <a:off x="6248873" y="1287603"/>
            <a:ext cx="3704962" cy="192548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FBA34479-6E2B-38BE-CB35-CD8BF25CE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150" y="1287603"/>
            <a:ext cx="3621360" cy="3551774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05E6EC26-5FEB-6243-5494-96F6ED405FFE}"/>
              </a:ext>
            </a:extLst>
          </p:cNvPr>
          <p:cNvSpPr txBox="1"/>
          <p:nvPr/>
        </p:nvSpPr>
        <p:spPr>
          <a:xfrm>
            <a:off x="2707824" y="4851984"/>
            <a:ext cx="1622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四元式（接上页）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2B111A9-E76C-DAB1-FFA9-924835FE1533}"/>
              </a:ext>
            </a:extLst>
          </p:cNvPr>
          <p:cNvSpPr txBox="1"/>
          <p:nvPr/>
        </p:nvSpPr>
        <p:spPr>
          <a:xfrm>
            <a:off x="7565787" y="4826199"/>
            <a:ext cx="1823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错误程序与报错信息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734674DE-4372-2150-A7CC-FEB3183FE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7" b="59665"/>
          <a:stretch>
            <a:fillRect/>
          </a:stretch>
        </p:blipFill>
        <p:spPr>
          <a:xfrm>
            <a:off x="6248873" y="2761357"/>
            <a:ext cx="4457227" cy="202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340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D630D03-C727-4FFF-AF77-C0DD2090E5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8196A2-2AEF-426A-A7C6-F00C2455201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04 / Wrap-up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290523-B769-4E77-8FE4-3CB9BA84C13F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总结与不足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B6ABA1-9C0A-4A9A-AE23-97CB9B6A355B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A1A324-8960-49B1-8FA7-596CE5D20B78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4572000" cy="2952750"/>
          </a:xfrm>
          <a:prstGeom prst="rect">
            <a:avLst/>
          </a:prstGeom>
          <a:solidFill>
            <a:srgbClr val="EAF2FB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96C6A5-01BF-4AB5-8097-A21B66C18E56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76200" cy="29527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DC51C8-CF15-4260-8AFD-D4E22262006E}"/>
              </a:ext>
            </a:extLst>
          </p:cNvPr>
          <p:cNvSpPr>
            <a:spLocks noGrp="1"/>
          </p:cNvSpPr>
          <p:nvPr/>
        </p:nvSpPr>
        <p:spPr>
          <a:xfrm>
            <a:off x="990600" y="1790700"/>
            <a:ext cx="4191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主要成果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1DFB8E-CFD8-41D2-B573-2CCBEB260D1A}"/>
              </a:ext>
            </a:extLst>
          </p:cNvPr>
          <p:cNvSpPr>
            <a:spLocks noGrp="1"/>
          </p:cNvSpPr>
          <p:nvPr/>
        </p:nvSpPr>
        <p:spPr>
          <a:xfrm>
            <a:off x="990600" y="2152650"/>
            <a:ext cx="4191000" cy="228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完成作业二 PPT 强制规则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实现语义错误收集与四元式生成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扩展支持控制流、引用、数组、元组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通过规则矩阵测试验证完成度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7324A6-6728-4161-B2E1-6DD6B168A0F2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4572000" cy="2952750"/>
          </a:xfrm>
          <a:prstGeom prst="rect">
            <a:avLst/>
          </a:prstGeom>
          <a:solidFill>
            <a:srgbClr val="FFF5F5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6ED42E-41A4-4F10-81FE-4EDC8DD29977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76200" cy="29527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DAC594-FB0B-4D7E-82FB-D85B88818E4F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4191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已知边界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33E03F-9DF7-4AB1-823D-390C5A5059BE}"/>
              </a:ext>
            </a:extLst>
          </p:cNvPr>
          <p:cNvSpPr>
            <a:spLocks noGrp="1"/>
          </p:cNvSpPr>
          <p:nvPr/>
        </p:nvSpPr>
        <p:spPr>
          <a:xfrm>
            <a:off x="6191250" y="2152650"/>
            <a:ext cx="4191000" cy="228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Range 不是一等普通表达式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动态数组越界不生成运行时检查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借用检查是课程级简化实现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未实现完整 Rust 所有权与生命周期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B19B99-99A2-46E9-B8D6-C073CC917BAB}"/>
              </a:ext>
            </a:extLst>
          </p:cNvPr>
          <p:cNvSpPr>
            <a:spLocks noGrp="1"/>
          </p:cNvSpPr>
          <p:nvPr/>
        </p:nvSpPr>
        <p:spPr>
          <a:xfrm>
            <a:off x="1619250" y="5124450"/>
            <a:ext cx="914400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lnSpc>
                <a:spcPct val="115000"/>
              </a:lnSpc>
              <a:buNone/>
              <a:defRPr sz="18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总结：</a:t>
            </a:r>
            <a:endParaRPr lang="en-US" altLang="zh-CN" sz="18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5000"/>
              </a:lnSpc>
              <a:buNone/>
              <a:defRPr sz="18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本项目实现</a:t>
            </a:r>
            <a:r>
              <a:rPr lang="zh-CN" altLang="en-US" sz="16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了一份</a:t>
            </a: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满足课程要求、可测试、可展示的类</a:t>
            </a:r>
            <a:r>
              <a:rPr sz="16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 Rust </a:t>
            </a: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编译前端与中间代码生成器</a:t>
            </a:r>
            <a:r>
              <a:rPr sz="16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EA9D714-C9A4-4CFD-AD62-9A2363C8FC7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734A5A-204A-43B6-940F-CFFA67AB2C28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439FF6-CD07-484B-AB17-D854FAF9B86C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8380503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2353</Words>
  <Application>Microsoft Office PowerPoint</Application>
  <DocSecurity>0</DocSecurity>
  <PresentationFormat>宽屏</PresentationFormat>
  <Paragraphs>516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ui-monospace</vt:lpstr>
      <vt:lpstr>宋体</vt:lpstr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佳煜 白</cp:lastModifiedBy>
  <cp:revision>16</cp:revision>
  <dcterms:created xsi:type="dcterms:W3CDTF">2026-06-02T18:48:37Z</dcterms:created>
  <dcterms:modified xsi:type="dcterms:W3CDTF">2026-06-03T05:33:52Z</dcterms:modified>
</cp:coreProperties>
</file>