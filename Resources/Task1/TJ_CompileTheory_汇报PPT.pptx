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0" r:id="rId3"/>
    <p:sldId id="257" r:id="rId4"/>
    <p:sldId id="258" r:id="rId5"/>
    <p:sldId id="259" r:id="rId6"/>
    <p:sldId id="271" r:id="rId7"/>
    <p:sldId id="260" r:id="rId8"/>
    <p:sldId id="261" r:id="rId9"/>
    <p:sldId id="262" r:id="rId10"/>
    <p:sldId id="263" r:id="rId11"/>
    <p:sldId id="264" r:id="rId12"/>
    <p:sldId id="265" r:id="rId13"/>
    <p:sldId id="268" r:id="rId14"/>
    <p:sldId id="269" r:id="rId15"/>
    <p:sldId id="272" r:id="rId16"/>
    <p:sldId id="266" r:id="rId17"/>
    <p:sldId id="267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645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3E583-F262-20F5-27A2-74C3987BB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9E6B4-0A4E-1642-793B-2E5DF6164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5F7097-1DD2-5D87-37CE-56A759D22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E9873-F47F-791B-8D02-E2A4CF7ED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56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D3D18-149C-6A09-5B84-F0F82F4EC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D1A355-278E-4A90-4157-6BAB4791CE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15DF8B-4DED-38BA-0625-D9CB117E8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7B92D-749C-57BE-BBE9-F7A4305B2E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5430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2C2BB-2B31-12E5-F1A5-FE6B87282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623C26-C3FC-99E5-B996-8BA1826DC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4C424A-1FEA-BE09-7783-FC5BF4250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3D631-A9E7-6146-BC09-DDCF34D384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272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42BAC-CD04-269E-2B5F-6C372CE4C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0A4B7-FCBA-A9EE-ED30-68C53D8F8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BA17F5-732D-0749-2464-E863C19EC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638FF-5D63-96CB-9892-5EA1BCBB9C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946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1B0C5-291F-EA7D-904C-43C164C9D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10D2F6-017C-4622-A641-074396022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CE5F78-2055-5954-6C0E-5817CE701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787F1-1CBA-986B-149A-86F7AE985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892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2947D-150F-DEBA-D93D-0D9CBD03A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B064C0-0B25-B2D9-0201-B0A2572EE6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2BBA0A-97F2-E126-6F27-E3EBEAF8A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4522F-BC2C-8DA9-AA4E-1340876966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942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28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同济大学 编译原理课程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187452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97D"/>
                </a:solidFill>
              </a:rPr>
              <a:t>类 Rust 词法与语法分析工具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86384" y="25420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81BD"/>
                </a:solidFill>
              </a:rPr>
              <a:t>设计与实现汇报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86384" y="3127248"/>
            <a:ext cx="1920240" cy="73152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343814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</a:rPr>
              <a:t>Lexer + Parser + </a:t>
            </a:r>
            <a:r>
              <a:rPr lang="en-US" altLang="zh-CN" sz="1500" dirty="0">
                <a:solidFill>
                  <a:srgbClr val="5B677A"/>
                </a:solidFill>
              </a:rPr>
              <a:t>Web</a:t>
            </a:r>
            <a:r>
              <a:rPr lang="en-US" sz="1500" dirty="0">
                <a:solidFill>
                  <a:srgbClr val="5B677A"/>
                </a:solidFill>
              </a:rPr>
              <a:t> Visualization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12480" y="1243584"/>
            <a:ext cx="2834640" cy="2834640"/>
          </a:xfrm>
          <a:prstGeom prst="arc">
            <a:avLst/>
          </a:prstGeom>
          <a:noFill/>
          <a:ln w="25400">
            <a:solidFill>
              <a:srgbClr val="4F81BD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01584" y="941832"/>
            <a:ext cx="3438144" cy="3438144"/>
          </a:xfrm>
          <a:prstGeom prst="arc">
            <a:avLst/>
          </a:prstGeom>
          <a:noFill/>
          <a:ln w="16510">
            <a:solidFill>
              <a:srgbClr val="4BACC6">
                <a:alpha val="65000"/>
              </a:srgbClr>
            </a:solidFill>
            <a:prstDash val="solid"/>
            <a:headEnd type="none"/>
          </a:ln>
        </p:spPr>
      </p:sp>
      <p:sp>
        <p:nvSpPr>
          <p:cNvPr id="10" name="Text 8"/>
          <p:cNvSpPr/>
          <p:nvPr/>
        </p:nvSpPr>
        <p:spPr>
          <a:xfrm>
            <a:off x="8823960" y="182880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854A0"/>
                </a:solidFill>
              </a:rPr>
              <a:t>{ }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8641080" y="27889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Token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AST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Web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493858" y="5674861"/>
            <a:ext cx="1506524" cy="93898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小组成员</a:t>
            </a:r>
            <a:r>
              <a:rPr lang="zh-CN" altLang="en-US" sz="12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：</a:t>
            </a:r>
            <a:endParaRPr lang="en-US" altLang="zh-CN" sz="125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zh-CN" altLang="en-US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白佳煜 </a:t>
            </a:r>
            <a:r>
              <a:rPr lang="en-US" altLang="zh-CN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2352733</a:t>
            </a:r>
          </a:p>
          <a:p>
            <a:pPr algn="ctr"/>
            <a:r>
              <a:rPr lang="zh-CN" altLang="en-US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胡桥健 </a:t>
            </a:r>
            <a:r>
              <a:rPr lang="en-US" altLang="zh-CN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2351295</a:t>
            </a:r>
          </a:p>
          <a:p>
            <a:pPr algn="ctr"/>
            <a:r>
              <a:rPr lang="zh-CN" altLang="en-US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庄子硕 </a:t>
            </a:r>
            <a:r>
              <a:rPr lang="en-US" altLang="zh-CN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2350998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45A07-30AD-8708-B5C0-740127E2F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93DA957-508B-6780-E030-53183D53D6BD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EE528DD-44D8-1564-A8D8-9531F85B152B}"/>
              </a:ext>
            </a:extLst>
          </p:cNvPr>
          <p:cNvSpPr/>
          <p:nvPr/>
        </p:nvSpPr>
        <p:spPr>
          <a:xfrm>
            <a:off x="566928" y="228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同济大学 编译原理课程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57E9A8-CBF8-1A8E-3217-1C66091045B7}"/>
              </a:ext>
            </a:extLst>
          </p:cNvPr>
          <p:cNvSpPr/>
          <p:nvPr/>
        </p:nvSpPr>
        <p:spPr>
          <a:xfrm>
            <a:off x="4407408" y="3084073"/>
            <a:ext cx="59597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97D"/>
                </a:solidFill>
              </a:rPr>
              <a:t>1</a:t>
            </a:r>
            <a:r>
              <a:rPr lang="zh-CN" altLang="en-US" sz="3400" b="1" dirty="0">
                <a:solidFill>
                  <a:srgbClr val="1F497D"/>
                </a:solidFill>
              </a:rPr>
              <a:t>、问题分析与总体设计</a:t>
            </a:r>
            <a:endParaRPr lang="en-US" sz="3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54109E8-D2C0-D436-3079-1F99EEF53440}"/>
              </a:ext>
            </a:extLst>
          </p:cNvPr>
          <p:cNvSpPr/>
          <p:nvPr/>
        </p:nvSpPr>
        <p:spPr>
          <a:xfrm>
            <a:off x="4443984" y="3833881"/>
            <a:ext cx="4469902" cy="45719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3375D3C-5412-F8F8-7C33-A359CB82EFB3}"/>
              </a:ext>
            </a:extLst>
          </p:cNvPr>
          <p:cNvSpPr/>
          <p:nvPr/>
        </p:nvSpPr>
        <p:spPr>
          <a:xfrm>
            <a:off x="93815" y="1371600"/>
            <a:ext cx="2834640" cy="2834640"/>
          </a:xfrm>
          <a:prstGeom prst="arc">
            <a:avLst/>
          </a:prstGeom>
          <a:noFill/>
          <a:ln w="25400">
            <a:solidFill>
              <a:srgbClr val="4F81BD">
                <a:alpha val="75000"/>
              </a:srgbClr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F3B39D9-B806-C5B2-D3B4-D07ACC163F85}"/>
              </a:ext>
            </a:extLst>
          </p:cNvPr>
          <p:cNvSpPr/>
          <p:nvPr/>
        </p:nvSpPr>
        <p:spPr>
          <a:xfrm>
            <a:off x="-217081" y="1069848"/>
            <a:ext cx="3438144" cy="3438144"/>
          </a:xfrm>
          <a:prstGeom prst="arc">
            <a:avLst/>
          </a:prstGeom>
          <a:noFill/>
          <a:ln w="16510">
            <a:solidFill>
              <a:srgbClr val="4BACC6">
                <a:alpha val="65000"/>
              </a:srgbClr>
            </a:solidFill>
            <a:prstDash val="solid"/>
            <a:headEnd type="none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AC091AB-CA16-0DBF-C4DA-0696DDD80D03}"/>
              </a:ext>
            </a:extLst>
          </p:cNvPr>
          <p:cNvSpPr/>
          <p:nvPr/>
        </p:nvSpPr>
        <p:spPr>
          <a:xfrm>
            <a:off x="505295" y="195681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854A0"/>
                </a:solidFill>
              </a:rPr>
              <a:t>{ }</a:t>
            </a:r>
            <a:endParaRPr lang="en-US" sz="4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EF11476-F072-ACCA-94F2-863C3E0B9751}"/>
              </a:ext>
            </a:extLst>
          </p:cNvPr>
          <p:cNvSpPr/>
          <p:nvPr/>
        </p:nvSpPr>
        <p:spPr>
          <a:xfrm>
            <a:off x="322415" y="2916936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Token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AST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Web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542549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作业目标与任务范围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02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从源码到结构化分析结果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70131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691640"/>
            <a:ext cx="7040880" cy="4667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实现类 Rust 语言的词法分析器，输出 Token 序列与词法错误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8368" y="2400483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21992"/>
            <a:ext cx="7040880" cy="4667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实现语法分析器，识别课程要求的核心语法规则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" y="2930835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2752344"/>
            <a:ext cx="7040880" cy="4667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构建可序列化 AST，便于命令行输出与前端展示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" y="3461187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282696"/>
            <a:ext cx="7040880" cy="4667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提供 CLI 与 Web 页面两种使用方式，支持演示和调试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00208" y="1463040"/>
            <a:ext cx="3464032" cy="1581912"/>
          </a:xfrm>
          <a:prstGeom prst="roundRect">
            <a:avLst>
              <a:gd name="adj" fmla="val 4545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00208" y="1463040"/>
            <a:ext cx="3464032" cy="198508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71627" y="1691640"/>
            <a:ext cx="3009733" cy="397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54A0"/>
                </a:solidFill>
              </a:rPr>
              <a:t>聚焦范围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871627" y="2084831"/>
            <a:ext cx="3009733" cy="87819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词法分析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语法分析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可视化展示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00208" y="3602370"/>
            <a:ext cx="3537184" cy="1600566"/>
          </a:xfrm>
          <a:prstGeom prst="roundRect">
            <a:avLst>
              <a:gd name="adj" fmla="val 4545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00208" y="3602369"/>
            <a:ext cx="3537184" cy="174607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81221" y="3830970"/>
            <a:ext cx="3073291" cy="34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9646"/>
                </a:solidFill>
              </a:rPr>
              <a:t>非核心范围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881221" y="4224161"/>
            <a:ext cx="3073291" cy="74103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完整类型系统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借用检查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代码生成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需求拆解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03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</a:t>
            </a:r>
            <a:r>
              <a:rPr lang="zh-CN" alt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作业要求</a:t>
            </a: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2300" b="1" dirty="0" err="1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拆成三层实现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664208"/>
            <a:ext cx="3429000" cy="2423160"/>
          </a:xfrm>
          <a:prstGeom prst="roundRect">
            <a:avLst>
              <a:gd name="adj" fmla="val 1887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1664208"/>
            <a:ext cx="3429000" cy="109728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89280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54A0"/>
                </a:solidFill>
              </a:rPr>
              <a:t>词法规则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" y="2286000"/>
            <a:ext cx="306324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关键字、标识符、数字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运算符、界符、分隔符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注释与结束符 #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4370832" y="1664208"/>
            <a:ext cx="3429000" cy="2423160"/>
          </a:xfrm>
          <a:prstGeom prst="roundRect">
            <a:avLst>
              <a:gd name="adj" fmla="val 1887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0832" y="1664208"/>
            <a:ext cx="3429000" cy="109728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189280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BB59"/>
                </a:solidFill>
              </a:rPr>
              <a:t>必做语法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53712" y="2286000"/>
            <a:ext cx="306324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函数、语句块、return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变量声明、赋值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表达式、if、while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8119872" y="1664208"/>
            <a:ext cx="3429000" cy="2423160"/>
          </a:xfrm>
          <a:prstGeom prst="roundRect">
            <a:avLst>
              <a:gd name="adj" fmla="val 1887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19872" y="1664208"/>
            <a:ext cx="3429000" cy="109728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2752" y="189280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9646"/>
                </a:solidFill>
              </a:rPr>
              <a:t>扩展语法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02752" y="2286000"/>
            <a:ext cx="306324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else / for / loop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引用、数组、元组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表达式块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1417320" y="4892040"/>
            <a:ext cx="2743200" cy="320040"/>
          </a:xfrm>
          <a:prstGeom prst="roundRect">
            <a:avLst>
              <a:gd name="adj" fmla="val 11429"/>
            </a:avLst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496519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必做语法规则：已完成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81728" y="4892040"/>
            <a:ext cx="2514600" cy="320040"/>
          </a:xfrm>
          <a:prstGeom prst="roundRect">
            <a:avLst>
              <a:gd name="adj" fmla="val 11429"/>
            </a:avLst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496519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扩展语法：部分完成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754112" y="4892040"/>
            <a:ext cx="2651760" cy="320040"/>
          </a:xfrm>
          <a:prstGeom prst="roundRect">
            <a:avLst>
              <a:gd name="adj" fmla="val 11429"/>
            </a:avLst>
          </a:prstGeom>
          <a:solidFill>
            <a:srgbClr val="8064A2"/>
          </a:solidFill>
          <a:ln w="12700">
            <a:solidFill>
              <a:srgbClr val="8064A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45552" y="496519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语义检查：后续方向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04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三层分析流水线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965960"/>
            <a:ext cx="2011680" cy="1325880"/>
          </a:xfrm>
          <a:prstGeom prst="roundRect">
            <a:avLst>
              <a:gd name="adj" fmla="val 3448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1965960"/>
            <a:ext cx="2011680" cy="10972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1945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97D"/>
                </a:solidFill>
              </a:rPr>
              <a:t>Source Code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96112" y="2587752"/>
            <a:ext cx="16459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类 Rust 源码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文件或标准输入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3200400" y="1965960"/>
            <a:ext cx="2011680" cy="1325880"/>
          </a:xfrm>
          <a:prstGeom prst="roundRect">
            <a:avLst>
              <a:gd name="adj" fmla="val 3448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965960"/>
            <a:ext cx="2011680" cy="109728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1945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54A0"/>
                </a:solidFill>
              </a:rPr>
              <a:t>Easy_Lexer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83280" y="2587752"/>
            <a:ext cx="16459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扫描字符流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生成 Token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5696712" y="1965960"/>
            <a:ext cx="2011680" cy="1325880"/>
          </a:xfrm>
          <a:prstGeom prst="roundRect">
            <a:avLst>
              <a:gd name="adj" fmla="val 3448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96712" y="1965960"/>
            <a:ext cx="2011680" cy="109728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79592" y="21945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BB59"/>
                </a:solidFill>
              </a:rPr>
              <a:t>Easy_Parser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79592" y="2587752"/>
            <a:ext cx="16459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递归下降分析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构建 AST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8183879" y="1965960"/>
            <a:ext cx="2313907" cy="1325880"/>
          </a:xfrm>
          <a:prstGeom prst="roundRect">
            <a:avLst>
              <a:gd name="adj" fmla="val 3448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1965960"/>
            <a:ext cx="2313906" cy="109728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21945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9646"/>
                </a:solidFill>
              </a:rPr>
              <a:t>输出展示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66759" y="2587752"/>
            <a:ext cx="213102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CLI JSON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Web </a:t>
            </a:r>
            <a:r>
              <a:rPr lang="en-US" sz="1260" dirty="0" err="1">
                <a:solidFill>
                  <a:srgbClr val="1F2933"/>
                </a:solidFill>
              </a:rPr>
              <a:t>可视化</a:t>
            </a:r>
            <a:r>
              <a:rPr lang="zh-CN" altLang="en-US" sz="1260" dirty="0">
                <a:solidFill>
                  <a:srgbClr val="1F2933"/>
                </a:solidFill>
              </a:rPr>
              <a:t>（</a:t>
            </a:r>
            <a:r>
              <a:rPr lang="en-US" altLang="zh-CN" sz="1260" dirty="0" err="1">
                <a:solidFill>
                  <a:srgbClr val="1F2933"/>
                </a:solidFill>
              </a:rPr>
              <a:t>Easy_Server</a:t>
            </a:r>
            <a:r>
              <a:rPr lang="en-US" altLang="zh-CN" sz="1260" dirty="0">
                <a:solidFill>
                  <a:srgbClr val="1F2933"/>
                </a:solidFill>
              </a:rPr>
              <a:t>)</a:t>
            </a:r>
            <a:endParaRPr lang="en-US" sz="1260" dirty="0"/>
          </a:p>
        </p:txBody>
      </p:sp>
      <p:sp>
        <p:nvSpPr>
          <p:cNvPr id="26" name="Shape 24"/>
          <p:cNvSpPr/>
          <p:nvPr/>
        </p:nvSpPr>
        <p:spPr>
          <a:xfrm>
            <a:off x="2798064" y="2386584"/>
            <a:ext cx="676656" cy="384048"/>
          </a:xfrm>
          <a:prstGeom prst="rightArrow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85232" y="2386584"/>
            <a:ext cx="676656" cy="384048"/>
          </a:xfrm>
          <a:prstGeom prst="rightArrow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81544" y="2386584"/>
            <a:ext cx="676656" cy="384048"/>
          </a:xfrm>
          <a:prstGeom prst="rightArrow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4128" y="46177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</a:rPr>
              <a:t>模块边界清晰：词法器只关心字符到 token，语法器只关心 token 到 AST，展示层只消费结构化结果。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B91AF-F7EC-3D0E-6E39-549BABB69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7AEDCB-0F39-8D8A-6740-BC96581922FD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4B3AFF6-17E3-4A04-6A83-698F084A6E2C}"/>
              </a:ext>
            </a:extLst>
          </p:cNvPr>
          <p:cNvSpPr/>
          <p:nvPr/>
        </p:nvSpPr>
        <p:spPr>
          <a:xfrm>
            <a:off x="566928" y="228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同济大学 编译原理课程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1E42EC9-73BF-E92E-FFA3-D90D7AB064E7}"/>
              </a:ext>
            </a:extLst>
          </p:cNvPr>
          <p:cNvSpPr/>
          <p:nvPr/>
        </p:nvSpPr>
        <p:spPr>
          <a:xfrm>
            <a:off x="4407408" y="3084073"/>
            <a:ext cx="59597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3400" b="1" dirty="0">
                <a:solidFill>
                  <a:srgbClr val="1F497D"/>
                </a:solidFill>
              </a:rPr>
              <a:t>2</a:t>
            </a:r>
            <a:r>
              <a:rPr lang="zh-CN" altLang="en-US" sz="3400" b="1" dirty="0">
                <a:solidFill>
                  <a:srgbClr val="1F497D"/>
                </a:solidFill>
              </a:rPr>
              <a:t>、各模块具体设计与验证</a:t>
            </a:r>
            <a:endParaRPr lang="en-US" sz="3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9730041-38AB-E912-5AFE-8F99A7AABF29}"/>
              </a:ext>
            </a:extLst>
          </p:cNvPr>
          <p:cNvSpPr/>
          <p:nvPr/>
        </p:nvSpPr>
        <p:spPr>
          <a:xfrm>
            <a:off x="4443984" y="3833881"/>
            <a:ext cx="4469902" cy="45719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7C52B49-8FBA-6629-A400-84685E3B3F6B}"/>
              </a:ext>
            </a:extLst>
          </p:cNvPr>
          <p:cNvSpPr/>
          <p:nvPr/>
        </p:nvSpPr>
        <p:spPr>
          <a:xfrm>
            <a:off x="93815" y="1371600"/>
            <a:ext cx="2834640" cy="2834640"/>
          </a:xfrm>
          <a:prstGeom prst="arc">
            <a:avLst/>
          </a:prstGeom>
          <a:noFill/>
          <a:ln w="25400">
            <a:solidFill>
              <a:srgbClr val="4F81BD">
                <a:alpha val="75000"/>
              </a:srgbClr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26C57AB-0A2D-CADA-103D-744B932F4F39}"/>
              </a:ext>
            </a:extLst>
          </p:cNvPr>
          <p:cNvSpPr/>
          <p:nvPr/>
        </p:nvSpPr>
        <p:spPr>
          <a:xfrm>
            <a:off x="-217081" y="1069848"/>
            <a:ext cx="3438144" cy="3438144"/>
          </a:xfrm>
          <a:prstGeom prst="arc">
            <a:avLst/>
          </a:prstGeom>
          <a:noFill/>
          <a:ln w="16510">
            <a:solidFill>
              <a:srgbClr val="4BACC6">
                <a:alpha val="65000"/>
              </a:srgbClr>
            </a:solidFill>
            <a:prstDash val="solid"/>
            <a:headEnd type="none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2357DBC-887D-2D12-8857-CFBBCD0149A8}"/>
              </a:ext>
            </a:extLst>
          </p:cNvPr>
          <p:cNvSpPr/>
          <p:nvPr/>
        </p:nvSpPr>
        <p:spPr>
          <a:xfrm>
            <a:off x="505295" y="195681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854A0"/>
                </a:solidFill>
              </a:rPr>
              <a:t>{ }</a:t>
            </a:r>
            <a:endParaRPr lang="en-US" sz="4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5FF3CFE-F64C-DA0D-CDDB-5D6EAE7BF44A}"/>
              </a:ext>
            </a:extLst>
          </p:cNvPr>
          <p:cNvSpPr/>
          <p:nvPr/>
        </p:nvSpPr>
        <p:spPr>
          <a:xfrm>
            <a:off x="322415" y="2916936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Token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AST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Web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638564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词法分析器设计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05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手写扫描器：最长匹配 + 位置信息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" y="1792224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645920"/>
            <a:ext cx="5074920" cy="41842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F2933"/>
                </a:solidFill>
              </a:rPr>
              <a:t>逐字符扫描，跳过空白符和注释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649224" y="2267712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121408"/>
            <a:ext cx="5074920" cy="41842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F2933"/>
                </a:solidFill>
              </a:rPr>
              <a:t>先识别标识符 / 数字，再处理复合符号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649224" y="2743200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2596896"/>
            <a:ext cx="5074920" cy="41842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F2933"/>
                </a:solidFill>
              </a:rPr>
              <a:t>每个 token 保存 kind、lexeme、line、column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649224" y="3218688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3072384"/>
            <a:ext cx="5074920" cy="41842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F2933"/>
                </a:solidFill>
              </a:rPr>
              <a:t>遇到未知字符时记录错误，并尽量继续扫描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649224" y="3995928"/>
            <a:ext cx="1417320" cy="420624"/>
          </a:xfrm>
          <a:prstGeom prst="rect">
            <a:avLst/>
          </a:prstGeom>
          <a:solidFill>
            <a:srgbClr val="0854A0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4069080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FFFFFF"/>
                </a:solidFill>
              </a:rPr>
              <a:t>类别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2139696" y="4069080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FFFFFF"/>
                </a:solidFill>
              </a:rPr>
              <a:t>示例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649224" y="4416552"/>
            <a:ext cx="141732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" y="4489704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3"/>
                </a:solidFill>
              </a:rPr>
              <a:t>关键字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2139696" y="4489704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3"/>
                </a:solidFill>
              </a:rPr>
              <a:t>fn / let / if / while / return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649224" y="4837176"/>
            <a:ext cx="1417320" cy="420624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" y="4910328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3"/>
                </a:solidFill>
              </a:rPr>
              <a:t>算符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2066544" y="4837176"/>
            <a:ext cx="3749040" cy="420624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39696" y="4910328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3"/>
                </a:solidFill>
              </a:rPr>
              <a:t>+ - * / == &gt;= &lt;= !=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649224" y="5257800"/>
            <a:ext cx="141732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" y="5330952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3"/>
                </a:solidFill>
              </a:rPr>
              <a:t>特殊符号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2066544" y="5257800"/>
            <a:ext cx="374904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39696" y="5330952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3"/>
                </a:solidFill>
              </a:rPr>
              <a:t>-&gt;  .  ..  #</a:t>
            </a:r>
            <a:endParaRPr lang="en-US" sz="1040" dirty="0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41092994-3D19-C629-8FB5-3DB36BF4E7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582"/>
          <a:stretch>
            <a:fillRect/>
          </a:stretch>
        </p:blipFill>
        <p:spPr>
          <a:xfrm>
            <a:off x="5297205" y="950976"/>
            <a:ext cx="6742613" cy="3948351"/>
          </a:xfrm>
          <a:prstGeom prst="rect">
            <a:avLst/>
          </a:prstGeom>
        </p:spPr>
      </p:pic>
      <p:sp>
        <p:nvSpPr>
          <p:cNvPr id="22" name="Shape 20"/>
          <p:cNvSpPr/>
          <p:nvPr/>
        </p:nvSpPr>
        <p:spPr>
          <a:xfrm>
            <a:off x="2066544" y="3995928"/>
            <a:ext cx="3749040" cy="420624"/>
          </a:xfrm>
          <a:prstGeom prst="rect">
            <a:avLst/>
          </a:prstGeom>
          <a:solidFill>
            <a:srgbClr val="0854A0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66544" y="4416552"/>
            <a:ext cx="374904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8" name="Text 26">
            <a:extLst>
              <a:ext uri="{FF2B5EF4-FFF2-40B4-BE49-F238E27FC236}">
                <a16:creationId xmlns:a16="http://schemas.microsoft.com/office/drawing/2014/main" id="{60E27BEE-FF8F-A981-E15F-0F1E6AE68D0F}"/>
              </a:ext>
            </a:extLst>
          </p:cNvPr>
          <p:cNvSpPr/>
          <p:nvPr/>
        </p:nvSpPr>
        <p:spPr>
          <a:xfrm>
            <a:off x="7476239" y="5093208"/>
            <a:ext cx="29029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350" b="1" dirty="0">
                <a:solidFill>
                  <a:srgbClr val="1F497D"/>
                </a:solidFill>
              </a:rPr>
              <a:t>词法分析的状态转移图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词法分析效果示例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06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关键字边界与拆分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57800" y="1755648"/>
            <a:ext cx="685800" cy="292608"/>
          </a:xfrm>
          <a:prstGeom prst="rightArrow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1234440"/>
            <a:ext cx="1417320" cy="502920"/>
          </a:xfrm>
          <a:prstGeom prst="rect">
            <a:avLst/>
          </a:prstGeom>
          <a:solidFill>
            <a:srgbClr val="0854A0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307592"/>
            <a:ext cx="1271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输入片段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44968" y="1234440"/>
            <a:ext cx="1874520" cy="502920"/>
          </a:xfrm>
          <a:prstGeom prst="rect">
            <a:avLst/>
          </a:prstGeom>
          <a:solidFill>
            <a:srgbClr val="0854A0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1307592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Token 类别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19488" y="1234440"/>
            <a:ext cx="2423160" cy="502920"/>
          </a:xfrm>
          <a:prstGeom prst="rect">
            <a:avLst/>
          </a:prstGeom>
          <a:solidFill>
            <a:srgbClr val="0854A0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0" y="1307592"/>
            <a:ext cx="22768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说明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27648" y="1737360"/>
            <a:ext cx="14173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810512"/>
            <a:ext cx="1271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if123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44968" y="1737360"/>
            <a:ext cx="18745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18120" y="1810512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identifier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19488" y="1737360"/>
            <a:ext cx="242316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0" y="1810512"/>
            <a:ext cx="22768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整体识别为标识符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27648" y="2240280"/>
            <a:ext cx="1417320" cy="502920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313432"/>
            <a:ext cx="1271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if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44968" y="2240280"/>
            <a:ext cx="1874520" cy="502920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18120" y="2313432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keyword(if)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19488" y="2240280"/>
            <a:ext cx="2423160" cy="502920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92640" y="2313432"/>
            <a:ext cx="22768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关键字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27648" y="2743200"/>
            <a:ext cx="14173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2816352"/>
            <a:ext cx="1271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=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44968" y="2743200"/>
            <a:ext cx="18745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18120" y="2816352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assign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619488" y="2743200"/>
            <a:ext cx="242316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92640" y="2816352"/>
            <a:ext cx="22768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赋值号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27648" y="3246120"/>
            <a:ext cx="1417320" cy="502920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3319272"/>
            <a:ext cx="1271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123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744968" y="3246120"/>
            <a:ext cx="1874520" cy="502920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18120" y="3319272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number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619488" y="3246120"/>
            <a:ext cx="2423160" cy="502920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92640" y="3319272"/>
            <a:ext cx="22768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整数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35018" y="508198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 err="1">
                <a:solidFill>
                  <a:srgbClr val="1F497D"/>
                </a:solidFill>
              </a:rPr>
              <a:t>既满足标识符规则，也满足作业中特别强调的</a:t>
            </a:r>
            <a:r>
              <a:rPr lang="en-US" sz="1550" b="1" dirty="0">
                <a:solidFill>
                  <a:srgbClr val="1F497D"/>
                </a:solidFill>
              </a:rPr>
              <a:t> `if=123` </a:t>
            </a:r>
            <a:r>
              <a:rPr lang="en-US" sz="1550" b="1" dirty="0" err="1">
                <a:solidFill>
                  <a:srgbClr val="1F497D"/>
                </a:solidFill>
              </a:rPr>
              <a:t>拆分要求</a:t>
            </a:r>
            <a:r>
              <a:rPr lang="en-US" sz="1550" b="1" dirty="0">
                <a:solidFill>
                  <a:srgbClr val="1F497D"/>
                </a:solidFill>
              </a:rPr>
              <a:t>。</a:t>
            </a:r>
            <a:endParaRPr lang="en-US" sz="1550" dirty="0"/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EB24F5F7-BB60-A73A-2F17-C59F9B2C6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83678"/>
            <a:ext cx="5504253" cy="1295119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AC0FA7C4-01BD-17C7-8F02-60DACE52E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564806"/>
            <a:ext cx="4009912" cy="16630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语法分析器设计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07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递归下降：按语法层次组织函数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6280" y="1746504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600200"/>
            <a:ext cx="52578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</a:rPr>
              <a:t>入口：parse_program_ast(tokens)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6280" y="2205990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057400"/>
            <a:ext cx="52578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</a:rPr>
              <a:t>函数声明、语句块、语句、表达式分层解析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7586" y="2665476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2514600"/>
            <a:ext cx="52578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</a:rPr>
              <a:t>表达式按优先级拆分：比较 &gt; 加减 &gt; 乘除 &gt; 一元 / 后缀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7586" y="3140964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2971800"/>
            <a:ext cx="52578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</a:rPr>
              <a:t>解析失败时返回带行列信息的 ParseError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17720" y="5029200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必做语法规则：已完成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4671" y="3398452"/>
            <a:ext cx="5182985" cy="2655915"/>
          </a:xfrm>
          <a:prstGeom prst="roundRect">
            <a:avLst>
              <a:gd name="adj" fmla="val 1463"/>
            </a:avLst>
          </a:prstGeom>
          <a:solidFill>
            <a:srgbClr val="1E1E1E"/>
          </a:solidFill>
          <a:ln w="889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9264" y="3544756"/>
            <a:ext cx="4037892" cy="2352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pub struct Program {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    pub kind: &amp;'static str,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    pub functions: Vec&lt;</a:t>
            </a:r>
            <a:r>
              <a:rPr lang="en-US" altLang="zh-CN" sz="1200" dirty="0" err="1">
                <a:solidFill>
                  <a:schemeClr val="bg1"/>
                </a:solidFill>
              </a:rPr>
              <a:t>FunctionDecl</a:t>
            </a:r>
            <a:r>
              <a:rPr lang="en-US" altLang="zh-CN" sz="1200" dirty="0">
                <a:solidFill>
                  <a:schemeClr val="bg1"/>
                </a:solidFill>
              </a:rPr>
              <a:t>&gt;,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}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pub struct </a:t>
            </a:r>
            <a:r>
              <a:rPr lang="en-US" altLang="zh-CN" sz="1200" dirty="0" err="1">
                <a:solidFill>
                  <a:schemeClr val="bg1"/>
                </a:solidFill>
              </a:rPr>
              <a:t>FunctionDecl</a:t>
            </a:r>
            <a:r>
              <a:rPr lang="en-US" altLang="zh-CN" sz="1200" dirty="0">
                <a:solidFill>
                  <a:schemeClr val="bg1"/>
                </a:solidFill>
              </a:rPr>
              <a:t> {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    pub kind: &amp;'static str,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    pub name: String,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    pub params: Vec&lt;Binding&gt;,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    #[serde(rename = "</a:t>
            </a:r>
            <a:r>
              <a:rPr lang="en-US" altLang="zh-CN" sz="1200" dirty="0" err="1">
                <a:solidFill>
                  <a:schemeClr val="bg1"/>
                </a:solidFill>
              </a:rPr>
              <a:t>returnType</a:t>
            </a:r>
            <a:r>
              <a:rPr lang="en-US" altLang="zh-CN" sz="1200" dirty="0">
                <a:solidFill>
                  <a:schemeClr val="bg1"/>
                </a:solidFill>
              </a:rPr>
              <a:t>")]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    pub </a:t>
            </a:r>
            <a:r>
              <a:rPr lang="en-US" altLang="zh-CN" sz="1200" dirty="0" err="1">
                <a:solidFill>
                  <a:schemeClr val="bg1"/>
                </a:solidFill>
              </a:rPr>
              <a:t>return_type</a:t>
            </a:r>
            <a:r>
              <a:rPr lang="en-US" altLang="zh-CN" sz="1200" dirty="0">
                <a:solidFill>
                  <a:schemeClr val="bg1"/>
                </a:solidFill>
              </a:rPr>
              <a:t>: Option&lt;</a:t>
            </a:r>
            <a:r>
              <a:rPr lang="en-US" altLang="zh-CN" sz="1200" dirty="0" err="1">
                <a:solidFill>
                  <a:schemeClr val="bg1"/>
                </a:solidFill>
              </a:rPr>
              <a:t>TypeNode</a:t>
            </a:r>
            <a:r>
              <a:rPr lang="en-US" altLang="zh-CN" sz="1200" dirty="0">
                <a:solidFill>
                  <a:schemeClr val="bg1"/>
                </a:solidFill>
              </a:rPr>
              <a:t>&gt;,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    pub body: Block,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}</a:t>
            </a:r>
          </a:p>
          <a:p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1864233" y="6172200"/>
            <a:ext cx="29029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350" b="1" dirty="0">
                <a:solidFill>
                  <a:srgbClr val="1F497D"/>
                </a:solidFill>
              </a:rPr>
              <a:t>程序入口段代码</a:t>
            </a:r>
            <a:endParaRPr lang="en-US" sz="1350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4E885D8D-28C9-5EF4-745D-4B99108D8C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25" b="2250"/>
          <a:stretch>
            <a:fillRect/>
          </a:stretch>
        </p:blipFill>
        <p:spPr>
          <a:xfrm>
            <a:off x="7340436" y="557784"/>
            <a:ext cx="3861331" cy="5944785"/>
          </a:xfrm>
          <a:prstGeom prst="rect">
            <a:avLst/>
          </a:prstGeom>
        </p:spPr>
      </p:pic>
      <p:sp>
        <p:nvSpPr>
          <p:cNvPr id="24" name="Text 26">
            <a:extLst>
              <a:ext uri="{FF2B5EF4-FFF2-40B4-BE49-F238E27FC236}">
                <a16:creationId xmlns:a16="http://schemas.microsoft.com/office/drawing/2014/main" id="{C1A0A6EC-110B-B048-6007-F22A9B1F15F1}"/>
              </a:ext>
            </a:extLst>
          </p:cNvPr>
          <p:cNvSpPr/>
          <p:nvPr/>
        </p:nvSpPr>
        <p:spPr>
          <a:xfrm flipH="1">
            <a:off x="11273572" y="2251710"/>
            <a:ext cx="234335" cy="2743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350" b="1" dirty="0">
                <a:solidFill>
                  <a:srgbClr val="1F497D"/>
                </a:solidFill>
              </a:rPr>
              <a:t>语法分析函数调用转移图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AST 设计与输出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10819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08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用结构化节点承接语法结果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490472"/>
            <a:ext cx="2377440" cy="1143000"/>
          </a:xfrm>
          <a:prstGeom prst="roundRect">
            <a:avLst>
              <a:gd name="adj" fmla="val 4000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1490472"/>
            <a:ext cx="2377440" cy="10972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7190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97D"/>
                </a:solidFill>
              </a:rPr>
              <a:t>Program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" y="2112264"/>
            <a:ext cx="2011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functions: Vec&lt;FunctionDecl&gt;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3456432" y="1490472"/>
            <a:ext cx="2377440" cy="1143000"/>
          </a:xfrm>
          <a:prstGeom prst="roundRect">
            <a:avLst>
              <a:gd name="adj" fmla="val 4000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56432" y="1490472"/>
            <a:ext cx="2377440" cy="109728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9312" y="17190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54A0"/>
                </a:solidFill>
              </a:rPr>
              <a:t>Statement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39312" y="2112264"/>
            <a:ext cx="2011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Let / Assign / Return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While / For / Break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6291072" y="1490472"/>
            <a:ext cx="2377440" cy="1143000"/>
          </a:xfrm>
          <a:prstGeom prst="roundRect">
            <a:avLst>
              <a:gd name="adj" fmla="val 4000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91072" y="1490472"/>
            <a:ext cx="2377440" cy="109728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17190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BB59"/>
                </a:solidFill>
              </a:rPr>
              <a:t>Expr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73952" y="2112264"/>
            <a:ext cx="2011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Identifier / Number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Binary / Call / Array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9125712" y="1490472"/>
            <a:ext cx="2377440" cy="1143000"/>
          </a:xfrm>
          <a:prstGeom prst="roundRect">
            <a:avLst>
              <a:gd name="adj" fmla="val 4000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25712" y="1490472"/>
            <a:ext cx="2377440" cy="109728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08592" y="17190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9646"/>
                </a:solidFill>
              </a:rPr>
              <a:t>TypeNode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08592" y="2112264"/>
            <a:ext cx="2011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Named / Reference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Array / Tuple</a:t>
            </a:r>
            <a:endParaRPr lang="en-US" sz="1260" dirty="0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F5921756-E0AC-BCFC-657A-182D7C7D4A74}"/>
              </a:ext>
            </a:extLst>
          </p:cNvPr>
          <p:cNvSpPr/>
          <p:nvPr/>
        </p:nvSpPr>
        <p:spPr>
          <a:xfrm>
            <a:off x="3414749" y="3116026"/>
            <a:ext cx="5182985" cy="2655915"/>
          </a:xfrm>
          <a:prstGeom prst="roundRect">
            <a:avLst>
              <a:gd name="adj" fmla="val 1463"/>
            </a:avLst>
          </a:prstGeom>
          <a:solidFill>
            <a:srgbClr val="1E1E1E"/>
          </a:solidFill>
          <a:ln w="8890">
            <a:solidFill>
              <a:srgbClr val="333333"/>
            </a:solidFill>
            <a:prstDash val="solid"/>
          </a:ln>
        </p:spPr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145A0514-50CC-D3B1-B7FB-C616E0366A4D}"/>
              </a:ext>
            </a:extLst>
          </p:cNvPr>
          <p:cNvSpPr/>
          <p:nvPr/>
        </p:nvSpPr>
        <p:spPr>
          <a:xfrm>
            <a:off x="3579341" y="3262330"/>
            <a:ext cx="4133681" cy="2489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pub </a:t>
            </a:r>
            <a:r>
              <a:rPr lang="en-US" altLang="zh-CN" dirty="0" err="1">
                <a:solidFill>
                  <a:schemeClr val="bg1"/>
                </a:solidFill>
                <a:latin typeface="+mn-ea"/>
              </a:rPr>
              <a:t>enum</a:t>
            </a:r>
            <a:r>
              <a:rPr lang="en-US" altLang="zh-CN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dirty="0" err="1">
                <a:solidFill>
                  <a:schemeClr val="bg1"/>
                </a:solidFill>
                <a:latin typeface="+mn-ea"/>
              </a:rPr>
              <a:t>TypeNode</a:t>
            </a:r>
            <a:r>
              <a:rPr lang="en-US" altLang="zh-CN" dirty="0">
                <a:solidFill>
                  <a:schemeClr val="bg1"/>
                </a:solidFill>
                <a:latin typeface="+mn-ea"/>
              </a:rPr>
              <a:t> {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Named {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    name: String,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},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Reference {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    mutable: bool,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    ty: Box&lt;</a:t>
            </a:r>
            <a:r>
              <a:rPr lang="en-US" altLang="zh-CN" dirty="0" err="1">
                <a:solidFill>
                  <a:schemeClr val="bg1"/>
                </a:solidFill>
                <a:latin typeface="+mn-ea"/>
              </a:rPr>
              <a:t>TypeNode</a:t>
            </a:r>
            <a:r>
              <a:rPr lang="en-US" altLang="zh-CN" dirty="0">
                <a:solidFill>
                  <a:schemeClr val="bg1"/>
                </a:solidFill>
                <a:latin typeface="+mn-ea"/>
              </a:rPr>
              <a:t>&gt;,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},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Array {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    element: Box&lt;</a:t>
            </a:r>
            <a:r>
              <a:rPr lang="en-US" altLang="zh-CN" dirty="0" err="1">
                <a:solidFill>
                  <a:schemeClr val="bg1"/>
                </a:solidFill>
                <a:latin typeface="+mn-ea"/>
              </a:rPr>
              <a:t>TypeNode</a:t>
            </a:r>
            <a:r>
              <a:rPr lang="en-US" altLang="zh-CN" dirty="0">
                <a:solidFill>
                  <a:schemeClr val="bg1"/>
                </a:solidFill>
                <a:latin typeface="+mn-ea"/>
              </a:rPr>
              <a:t>&gt;,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    length: </a:t>
            </a:r>
            <a:r>
              <a:rPr lang="en-US" altLang="zh-CN" dirty="0" err="1">
                <a:solidFill>
                  <a:schemeClr val="bg1"/>
                </a:solidFill>
                <a:latin typeface="+mn-ea"/>
              </a:rPr>
              <a:t>usize</a:t>
            </a:r>
            <a:r>
              <a:rPr lang="en-US" altLang="zh-CN" dirty="0">
                <a:solidFill>
                  <a:schemeClr val="bg1"/>
                </a:solidFill>
                <a:latin typeface="+mn-ea"/>
              </a:rPr>
              <a:t>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},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Tuple {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    elements: Vec&lt;</a:t>
            </a:r>
            <a:r>
              <a:rPr lang="en-US" altLang="zh-CN" dirty="0" err="1">
                <a:solidFill>
                  <a:schemeClr val="bg1"/>
                </a:solidFill>
                <a:latin typeface="+mn-ea"/>
              </a:rPr>
              <a:t>TypeNode</a:t>
            </a:r>
            <a:r>
              <a:rPr lang="en-US" altLang="zh-CN" dirty="0">
                <a:solidFill>
                  <a:schemeClr val="bg1"/>
                </a:solidFill>
                <a:latin typeface="+mn-ea"/>
              </a:rPr>
              <a:t>&gt;,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},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Unit,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}</a:t>
            </a:r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AC665E66-1B7E-D70E-1519-55D14191326D}"/>
              </a:ext>
            </a:extLst>
          </p:cNvPr>
          <p:cNvSpPr/>
          <p:nvPr/>
        </p:nvSpPr>
        <p:spPr>
          <a:xfrm>
            <a:off x="4714311" y="5889774"/>
            <a:ext cx="29029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350" b="1" dirty="0" err="1">
                <a:solidFill>
                  <a:srgbClr val="1F497D"/>
                </a:solidFill>
              </a:rPr>
              <a:t>TypeNode</a:t>
            </a:r>
            <a:r>
              <a:rPr lang="zh-CN" altLang="en-US" sz="1350" b="1" dirty="0">
                <a:solidFill>
                  <a:srgbClr val="1F497D"/>
                </a:solidFill>
              </a:rPr>
              <a:t>结构设计展示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可视化功能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09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本地服务把分析过程变成可观察界面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508760"/>
            <a:ext cx="2743200" cy="1170432"/>
          </a:xfrm>
          <a:prstGeom prst="roundRect">
            <a:avLst>
              <a:gd name="adj" fmla="val 3906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508760"/>
            <a:ext cx="2743200" cy="109728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7373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54A0"/>
                </a:solidFill>
              </a:rPr>
              <a:t>后端接口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1248" y="2130552"/>
            <a:ext cx="237744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Axum 服务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POST /api/analyze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658368" y="3182112"/>
            <a:ext cx="2743200" cy="1170432"/>
          </a:xfrm>
          <a:prstGeom prst="roundRect">
            <a:avLst>
              <a:gd name="adj" fmla="val 3906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182112"/>
            <a:ext cx="2743200" cy="109728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4107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BB59"/>
                </a:solidFill>
              </a:rPr>
              <a:t>前端页面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" y="3803904"/>
            <a:ext cx="237744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源码编辑区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Token 表 / AST 树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658368" y="4855464"/>
            <a:ext cx="2743200" cy="1170432"/>
          </a:xfrm>
          <a:prstGeom prst="roundRect">
            <a:avLst>
              <a:gd name="adj" fmla="val 3906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855464"/>
            <a:ext cx="2743200" cy="109728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50840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9646"/>
                </a:solidFill>
              </a:rPr>
              <a:t>错误反馈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" y="5477256"/>
            <a:ext cx="237744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词法错误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语法错误</a:t>
            </a:r>
            <a:endParaRPr lang="en-US" sz="1260" dirty="0"/>
          </a:p>
        </p:txBody>
      </p:sp>
      <p:sp>
        <p:nvSpPr>
          <p:cNvPr id="24" name="Shape 22"/>
          <p:cNvSpPr/>
          <p:nvPr/>
        </p:nvSpPr>
        <p:spPr>
          <a:xfrm>
            <a:off x="4107794" y="1504187"/>
            <a:ext cx="7820970" cy="4700005"/>
          </a:xfrm>
          <a:prstGeom prst="roundRect">
            <a:avLst>
              <a:gd name="adj" fmla="val 1633"/>
            </a:avLst>
          </a:prstGeom>
          <a:solidFill>
            <a:srgbClr val="F2F6FC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3405" y="160400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</a:rPr>
              <a:t>界面布局</a:t>
            </a:r>
            <a:endParaRPr lang="en-US" sz="1300" dirty="0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2FF352D1-44D2-26AC-1FD9-A985F387C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405" y="1892808"/>
            <a:ext cx="7460402" cy="42289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测试与验证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10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核心模块测试已通过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graphicFrame>
        <p:nvGraphicFramePr>
          <p:cNvPr id="48" name="表格 47">
            <a:extLst>
              <a:ext uri="{FF2B5EF4-FFF2-40B4-BE49-F238E27FC236}">
                <a16:creationId xmlns:a16="http://schemas.microsoft.com/office/drawing/2014/main" id="{E03DB801-5384-8751-2EED-ED843BB5EB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270237"/>
              </p:ext>
            </p:extLst>
          </p:nvPr>
        </p:nvGraphicFramePr>
        <p:xfrm>
          <a:off x="502919" y="1570867"/>
          <a:ext cx="9145782" cy="15773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891">
                  <a:extLst>
                    <a:ext uri="{9D8B030D-6E8A-4147-A177-3AD203B41FA5}">
                      <a16:colId xmlns:a16="http://schemas.microsoft.com/office/drawing/2014/main" val="2024018592"/>
                    </a:ext>
                  </a:extLst>
                </a:gridCol>
                <a:gridCol w="4572891">
                  <a:extLst>
                    <a:ext uri="{9D8B030D-6E8A-4147-A177-3AD203B41FA5}">
                      <a16:colId xmlns:a16="http://schemas.microsoft.com/office/drawing/2014/main" val="117041901"/>
                    </a:ext>
                  </a:extLst>
                </a:gridCol>
              </a:tblGrid>
              <a:tr h="266835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测试内容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71893"/>
                  </a:ext>
                </a:extLst>
              </a:tr>
              <a:tr h="4793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>
                          <a:solidFill>
                            <a:srgbClr val="1F2933"/>
                          </a:solidFill>
                        </a:rPr>
                        <a:t>Easy_Lexer</a:t>
                      </a:r>
                      <a:endParaRPr lang="en-US" altLang="zh-C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solidFill>
                            <a:srgbClr val="1F2933"/>
                          </a:solidFill>
                        </a:rPr>
                        <a:t>5 </a:t>
                      </a:r>
                      <a:r>
                        <a:rPr lang="en-US" altLang="zh-CN" sz="1400" dirty="0" err="1">
                          <a:solidFill>
                            <a:srgbClr val="1F2933"/>
                          </a:solidFill>
                        </a:rPr>
                        <a:t>个单元测试</a:t>
                      </a:r>
                      <a:r>
                        <a:rPr lang="en-US" altLang="zh-CN" sz="1400" dirty="0">
                          <a:solidFill>
                            <a:srgbClr val="1F2933"/>
                          </a:solidFill>
                        </a:rPr>
                        <a:t> + 1 </a:t>
                      </a:r>
                      <a:r>
                        <a:rPr lang="en-US" altLang="zh-CN" sz="1400" dirty="0" err="1">
                          <a:solidFill>
                            <a:srgbClr val="1F2933"/>
                          </a:solidFill>
                        </a:rPr>
                        <a:t>个文件输出集成测试</a:t>
                      </a:r>
                      <a:endParaRPr lang="en-US" altLang="zh-C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069881"/>
                  </a:ext>
                </a:extLst>
              </a:tr>
              <a:tr h="3395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>
                          <a:solidFill>
                            <a:srgbClr val="1F2933"/>
                          </a:solidFill>
                        </a:rPr>
                        <a:t>Easy_Parser</a:t>
                      </a:r>
                      <a:endParaRPr lang="en-US" altLang="zh-C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solidFill>
                            <a:srgbClr val="1F2933"/>
                          </a:solidFill>
                        </a:rPr>
                        <a:t>4 </a:t>
                      </a:r>
                      <a:r>
                        <a:rPr lang="en-US" altLang="zh-CN" sz="1400" dirty="0" err="1">
                          <a:solidFill>
                            <a:srgbClr val="1F2933"/>
                          </a:solidFill>
                        </a:rPr>
                        <a:t>个单元测试</a:t>
                      </a:r>
                      <a:r>
                        <a:rPr lang="en-US" altLang="zh-CN" sz="1400" dirty="0">
                          <a:solidFill>
                            <a:srgbClr val="1F2933"/>
                          </a:solidFill>
                        </a:rPr>
                        <a:t> + 1 </a:t>
                      </a:r>
                      <a:r>
                        <a:rPr lang="en-US" altLang="zh-CN" sz="1400" dirty="0" err="1">
                          <a:solidFill>
                            <a:srgbClr val="1F2933"/>
                          </a:solidFill>
                        </a:rPr>
                        <a:t>个文件输出集成测试</a:t>
                      </a:r>
                      <a:endParaRPr lang="en-US" altLang="zh-C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638145"/>
                  </a:ext>
                </a:extLst>
              </a:tr>
              <a:tr h="4536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>
                          <a:solidFill>
                            <a:srgbClr val="1F2933"/>
                          </a:solidFill>
                        </a:rPr>
                        <a:t>Easy_Server</a:t>
                      </a:r>
                      <a:endParaRPr lang="en-US" altLang="zh-C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网页使用验证</a:t>
                      </a:r>
                      <a:endParaRPr lang="en-US" altLang="zh-C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483988"/>
                  </a:ext>
                </a:extLst>
              </a:tr>
            </a:tbl>
          </a:graphicData>
        </a:graphic>
      </p:graphicFrame>
      <p:pic>
        <p:nvPicPr>
          <p:cNvPr id="50" name="图片 49">
            <a:extLst>
              <a:ext uri="{FF2B5EF4-FFF2-40B4-BE49-F238E27FC236}">
                <a16:creationId xmlns:a16="http://schemas.microsoft.com/office/drawing/2014/main" id="{06FB46E0-71B9-72EF-E2F5-B71EB39FB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56595"/>
            <a:ext cx="4098768" cy="2896980"/>
          </a:xfrm>
          <a:prstGeom prst="rect">
            <a:avLst/>
          </a:prstGeom>
        </p:spPr>
      </p:pic>
      <p:sp>
        <p:nvSpPr>
          <p:cNvPr id="51" name="Text 26">
            <a:extLst>
              <a:ext uri="{FF2B5EF4-FFF2-40B4-BE49-F238E27FC236}">
                <a16:creationId xmlns:a16="http://schemas.microsoft.com/office/drawing/2014/main" id="{A8FECB2E-3154-CD46-D0E0-DFEBDA601E89}"/>
              </a:ext>
            </a:extLst>
          </p:cNvPr>
          <p:cNvSpPr/>
          <p:nvPr/>
        </p:nvSpPr>
        <p:spPr>
          <a:xfrm>
            <a:off x="4601688" y="3832446"/>
            <a:ext cx="277691" cy="166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1F497D"/>
                </a:solidFill>
              </a:rPr>
              <a:t>词法分析器测试结果</a:t>
            </a:r>
            <a:endParaRPr lang="en-US" sz="1200" dirty="0"/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9B41AC2C-1A6A-7102-30CE-D179A6421B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992" y="3356595"/>
            <a:ext cx="4675826" cy="2896980"/>
          </a:xfrm>
          <a:prstGeom prst="rect">
            <a:avLst/>
          </a:prstGeom>
        </p:spPr>
      </p:pic>
      <p:sp>
        <p:nvSpPr>
          <p:cNvPr id="54" name="Text 26">
            <a:extLst>
              <a:ext uri="{FF2B5EF4-FFF2-40B4-BE49-F238E27FC236}">
                <a16:creationId xmlns:a16="http://schemas.microsoft.com/office/drawing/2014/main" id="{F8065F02-72FD-6DAB-8C22-0B486C12F0CD}"/>
              </a:ext>
            </a:extLst>
          </p:cNvPr>
          <p:cNvSpPr/>
          <p:nvPr/>
        </p:nvSpPr>
        <p:spPr>
          <a:xfrm>
            <a:off x="11209818" y="3818359"/>
            <a:ext cx="277691" cy="166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1F497D"/>
                </a:solidFill>
              </a:rPr>
              <a:t>语法分析器测试结果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3A80A-8777-4712-E466-4E9A530C0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8713D5-040D-1BDE-A084-649451B3CE51}"/>
              </a:ext>
            </a:extLst>
          </p:cNvPr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8549F4E-D19F-78B7-7D17-48AAF923F5BC}"/>
              </a:ext>
            </a:extLst>
          </p:cNvPr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测试与验证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62B44C-58F0-4A92-6564-6E5519B323BB}"/>
              </a:ext>
            </a:extLst>
          </p:cNvPr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AA41272-F591-179A-9E06-2E1D15B249D5}"/>
              </a:ext>
            </a:extLst>
          </p:cNvPr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C70F883-3299-9F70-1158-9F1E75999D6A}"/>
              </a:ext>
            </a:extLst>
          </p:cNvPr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93F6463-3E4B-3505-95D7-189012B6446D}"/>
              </a:ext>
            </a:extLst>
          </p:cNvPr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10</a:t>
            </a:r>
            <a:endParaRPr lang="en-US" sz="9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1B9E55A-03A3-2804-4A8D-0BB4FFA17360}"/>
              </a:ext>
            </a:extLst>
          </p:cNvPr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网页效果演示</a:t>
            </a:r>
            <a:endParaRPr lang="en-US" sz="23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A5CC2FE-C563-D789-FC1F-E211EDDB52E8}"/>
              </a:ext>
            </a:extLst>
          </p:cNvPr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51" name="Text 26">
            <a:extLst>
              <a:ext uri="{FF2B5EF4-FFF2-40B4-BE49-F238E27FC236}">
                <a16:creationId xmlns:a16="http://schemas.microsoft.com/office/drawing/2014/main" id="{A9BEDF57-FABF-029A-97B8-9433297B7378}"/>
              </a:ext>
            </a:extLst>
          </p:cNvPr>
          <p:cNvSpPr/>
          <p:nvPr/>
        </p:nvSpPr>
        <p:spPr>
          <a:xfrm>
            <a:off x="1775360" y="5798995"/>
            <a:ext cx="18416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200" b="1" dirty="0">
                <a:solidFill>
                  <a:srgbClr val="1F497D"/>
                </a:solidFill>
              </a:rPr>
              <a:t>Token</a:t>
            </a:r>
            <a:r>
              <a:rPr lang="zh-CN" altLang="en-US" sz="1200" b="1" dirty="0">
                <a:solidFill>
                  <a:srgbClr val="1F497D"/>
                </a:solidFill>
              </a:rPr>
              <a:t>表效果演示</a:t>
            </a:r>
            <a:endParaRPr lang="en-US" sz="12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3B9A7CE-A921-EE99-AFB3-E18ACE6C3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64" y="1470854"/>
            <a:ext cx="4092831" cy="421471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EEAA29C-2D4C-0C00-7883-9702FCEDB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846" y="1517132"/>
            <a:ext cx="4603318" cy="3942607"/>
          </a:xfrm>
          <a:prstGeom prst="rect">
            <a:avLst/>
          </a:prstGeom>
        </p:spPr>
      </p:pic>
      <p:sp>
        <p:nvSpPr>
          <p:cNvPr id="16" name="Text 26">
            <a:extLst>
              <a:ext uri="{FF2B5EF4-FFF2-40B4-BE49-F238E27FC236}">
                <a16:creationId xmlns:a16="http://schemas.microsoft.com/office/drawing/2014/main" id="{470FC00B-14F7-3F9C-8A7A-B74C06B178C8}"/>
              </a:ext>
            </a:extLst>
          </p:cNvPr>
          <p:cNvSpPr/>
          <p:nvPr/>
        </p:nvSpPr>
        <p:spPr>
          <a:xfrm>
            <a:off x="7779692" y="5789257"/>
            <a:ext cx="18416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200" b="1" dirty="0">
                <a:solidFill>
                  <a:srgbClr val="1F497D"/>
                </a:solidFill>
              </a:rPr>
              <a:t>AST</a:t>
            </a:r>
            <a:r>
              <a:rPr lang="zh-CN" altLang="en-US" sz="1200" b="1" dirty="0">
                <a:solidFill>
                  <a:srgbClr val="1F497D"/>
                </a:solidFill>
              </a:rPr>
              <a:t>语法树效果演示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41310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CE94A-CA36-8DAD-8B9C-B0BD460AA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4A1EF4F-2B75-9A6A-97E8-86E5B51DBEF5}"/>
              </a:ext>
            </a:extLst>
          </p:cNvPr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BBFA42-40CB-C76A-3F8E-2CB7A45F8931}"/>
              </a:ext>
            </a:extLst>
          </p:cNvPr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测试与验证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8CDAA4C-B1B4-847D-EFE9-3A8619DA1385}"/>
              </a:ext>
            </a:extLst>
          </p:cNvPr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0A3A34F-3625-9307-1A4C-41D13FE5CEBB}"/>
              </a:ext>
            </a:extLst>
          </p:cNvPr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6D127A1-6328-DC47-FA70-1F428FD3CC57}"/>
              </a:ext>
            </a:extLst>
          </p:cNvPr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E49DD00-A3EE-7C68-3795-573779120618}"/>
              </a:ext>
            </a:extLst>
          </p:cNvPr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10</a:t>
            </a:r>
            <a:endParaRPr lang="en-US" sz="9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298EF59-F1A0-6FFA-2D16-0C0BCE9BB477}"/>
              </a:ext>
            </a:extLst>
          </p:cNvPr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网页效果演示</a:t>
            </a:r>
            <a:endParaRPr lang="en-US" sz="23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3EE07B9-9B47-7F85-BC88-26F522119EF3}"/>
              </a:ext>
            </a:extLst>
          </p:cNvPr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51" name="Text 26">
            <a:extLst>
              <a:ext uri="{FF2B5EF4-FFF2-40B4-BE49-F238E27FC236}">
                <a16:creationId xmlns:a16="http://schemas.microsoft.com/office/drawing/2014/main" id="{728C13F6-5B11-DB15-42FC-504121C5DCFD}"/>
              </a:ext>
            </a:extLst>
          </p:cNvPr>
          <p:cNvSpPr/>
          <p:nvPr/>
        </p:nvSpPr>
        <p:spPr>
          <a:xfrm>
            <a:off x="2268186" y="5708227"/>
            <a:ext cx="18416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1F497D"/>
                </a:solidFill>
              </a:rPr>
              <a:t>词法分析报错</a:t>
            </a:r>
            <a:br>
              <a:rPr lang="en-US" altLang="zh-CN" sz="1200" b="1" dirty="0">
                <a:solidFill>
                  <a:srgbClr val="1F497D"/>
                </a:solidFill>
              </a:rPr>
            </a:br>
            <a:r>
              <a:rPr lang="zh-CN" altLang="en-US" sz="1200" b="1" dirty="0">
                <a:solidFill>
                  <a:srgbClr val="1F497D"/>
                </a:solidFill>
              </a:rPr>
              <a:t>（输入不能识别的中文字符）</a:t>
            </a:r>
            <a:endParaRPr lang="en-US" sz="1200" dirty="0"/>
          </a:p>
        </p:txBody>
      </p:sp>
      <p:sp>
        <p:nvSpPr>
          <p:cNvPr id="16" name="Text 26">
            <a:extLst>
              <a:ext uri="{FF2B5EF4-FFF2-40B4-BE49-F238E27FC236}">
                <a16:creationId xmlns:a16="http://schemas.microsoft.com/office/drawing/2014/main" id="{DD3ABD62-D8DA-2B7F-73EF-165398C9F217}"/>
              </a:ext>
            </a:extLst>
          </p:cNvPr>
          <p:cNvSpPr/>
          <p:nvPr/>
        </p:nvSpPr>
        <p:spPr>
          <a:xfrm>
            <a:off x="8177516" y="5632704"/>
            <a:ext cx="18416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1F497D"/>
                </a:solidFill>
              </a:rPr>
              <a:t>语法分析报错</a:t>
            </a:r>
            <a:endParaRPr lang="en-US" altLang="zh-CN" sz="1200" b="1" dirty="0">
              <a:solidFill>
                <a:srgbClr val="1F497D"/>
              </a:solidFill>
            </a:endParaRPr>
          </a:p>
          <a:p>
            <a:pPr marL="0" indent="0" algn="ctr">
              <a:buNone/>
            </a:pPr>
            <a:r>
              <a:rPr lang="zh-CN" altLang="en-US" sz="1200" b="1" dirty="0">
                <a:solidFill>
                  <a:srgbClr val="1F497D"/>
                </a:solidFill>
              </a:rPr>
              <a:t>（缺少；）</a:t>
            </a:r>
            <a:endParaRPr lang="en-US" sz="12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90E73E5-6422-768F-F7D9-50C58DCED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97644"/>
            <a:ext cx="5480464" cy="408216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0BA69FF-39AC-BACA-6D37-9BF6312FF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296" y="1460665"/>
            <a:ext cx="5480464" cy="402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058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9480B-F318-FFF1-C534-271320E1D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87A5B3-632E-434F-56AE-2765111A3FB1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4CB800-8318-0E20-AE79-5AC8BF1BC081}"/>
              </a:ext>
            </a:extLst>
          </p:cNvPr>
          <p:cNvSpPr/>
          <p:nvPr/>
        </p:nvSpPr>
        <p:spPr>
          <a:xfrm>
            <a:off x="566928" y="228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同济大学 编译原理课程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1AB40A5-759F-F116-3842-EC9D81024DF8}"/>
              </a:ext>
            </a:extLst>
          </p:cNvPr>
          <p:cNvSpPr/>
          <p:nvPr/>
        </p:nvSpPr>
        <p:spPr>
          <a:xfrm>
            <a:off x="4407408" y="3084073"/>
            <a:ext cx="59597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3400" b="1" dirty="0">
                <a:solidFill>
                  <a:srgbClr val="1F497D"/>
                </a:solidFill>
              </a:rPr>
              <a:t>3</a:t>
            </a:r>
            <a:r>
              <a:rPr lang="zh-CN" altLang="en-US" sz="3400" b="1" dirty="0">
                <a:solidFill>
                  <a:srgbClr val="1F497D"/>
                </a:solidFill>
              </a:rPr>
              <a:t>、项目设计总结</a:t>
            </a:r>
            <a:endParaRPr lang="en-US" sz="3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8451BD9-38A5-E2C9-B9C9-098008409197}"/>
              </a:ext>
            </a:extLst>
          </p:cNvPr>
          <p:cNvSpPr/>
          <p:nvPr/>
        </p:nvSpPr>
        <p:spPr>
          <a:xfrm>
            <a:off x="4443984" y="3833881"/>
            <a:ext cx="4469902" cy="45719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BA5875C-3D8F-7752-B8AB-374D961C0892}"/>
              </a:ext>
            </a:extLst>
          </p:cNvPr>
          <p:cNvSpPr/>
          <p:nvPr/>
        </p:nvSpPr>
        <p:spPr>
          <a:xfrm>
            <a:off x="93815" y="1371600"/>
            <a:ext cx="2834640" cy="2834640"/>
          </a:xfrm>
          <a:prstGeom prst="arc">
            <a:avLst/>
          </a:prstGeom>
          <a:noFill/>
          <a:ln w="25400">
            <a:solidFill>
              <a:srgbClr val="4F81BD">
                <a:alpha val="75000"/>
              </a:srgbClr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A118717-5DAB-5149-6B73-066675DE99EB}"/>
              </a:ext>
            </a:extLst>
          </p:cNvPr>
          <p:cNvSpPr/>
          <p:nvPr/>
        </p:nvSpPr>
        <p:spPr>
          <a:xfrm>
            <a:off x="-217081" y="1069848"/>
            <a:ext cx="3438144" cy="3438144"/>
          </a:xfrm>
          <a:prstGeom prst="arc">
            <a:avLst/>
          </a:prstGeom>
          <a:noFill/>
          <a:ln w="16510">
            <a:solidFill>
              <a:srgbClr val="4BACC6">
                <a:alpha val="65000"/>
              </a:srgbClr>
            </a:solidFill>
            <a:prstDash val="solid"/>
            <a:headEnd type="none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93F64A5-54C2-78C0-1CDE-255D66C7B3B9}"/>
              </a:ext>
            </a:extLst>
          </p:cNvPr>
          <p:cNvSpPr/>
          <p:nvPr/>
        </p:nvSpPr>
        <p:spPr>
          <a:xfrm>
            <a:off x="505295" y="195681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854A0"/>
                </a:solidFill>
              </a:rPr>
              <a:t>{ }</a:t>
            </a:r>
            <a:endParaRPr lang="en-US" sz="4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1683FB9-CB47-82AF-436F-B3E5AC8EA97B}"/>
              </a:ext>
            </a:extLst>
          </p:cNvPr>
          <p:cNvSpPr/>
          <p:nvPr/>
        </p:nvSpPr>
        <p:spPr>
          <a:xfrm>
            <a:off x="322415" y="2916936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Token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AST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Web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53609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完成度对照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11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相对课程要求的完成情况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35024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691640"/>
            <a:ext cx="1828800" cy="493776"/>
          </a:xfrm>
          <a:prstGeom prst="rect">
            <a:avLst/>
          </a:prstGeom>
          <a:solidFill>
            <a:srgbClr val="0854A0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176479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模块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23160" y="1691640"/>
            <a:ext cx="1645920" cy="493776"/>
          </a:xfrm>
          <a:prstGeom prst="rect">
            <a:avLst/>
          </a:prstGeom>
          <a:solidFill>
            <a:srgbClr val="0854A0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764792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完成情况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69080" y="1691640"/>
            <a:ext cx="7132320" cy="493776"/>
          </a:xfrm>
          <a:prstGeom prst="rect">
            <a:avLst/>
          </a:prstGeom>
          <a:solidFill>
            <a:srgbClr val="0854A0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42232" y="1764792"/>
            <a:ext cx="6986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说明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2185416"/>
            <a:ext cx="182880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25856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词法分析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23160" y="2185416"/>
            <a:ext cx="164592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96312" y="225856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完成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69080" y="2185416"/>
            <a:ext cx="713232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42232" y="2258568"/>
            <a:ext cx="6986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覆盖关键字、标识符、数字、符号、注释、结束符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2679192"/>
            <a:ext cx="1828800" cy="493776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2752344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必做语法规则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23160" y="2679192"/>
            <a:ext cx="1645920" cy="493776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96312" y="2752344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完成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69080" y="2679192"/>
            <a:ext cx="7132320" cy="493776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42232" y="2752344"/>
            <a:ext cx="6986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0.1 到 5.1 的核心规则均可解析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" y="3172968"/>
            <a:ext cx="182880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324612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AST 输出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423160" y="3172968"/>
            <a:ext cx="164592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96312" y="324612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完成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069080" y="3172968"/>
            <a:ext cx="713232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42232" y="3246120"/>
            <a:ext cx="6986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JSON 输出，可被 CLI 和 Web 消费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4360" y="3666744"/>
            <a:ext cx="1828800" cy="493776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" y="3739896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Web 可视化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423160" y="3666744"/>
            <a:ext cx="1645920" cy="493776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96312" y="3739896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 err="1">
                <a:solidFill>
                  <a:srgbClr val="1F2933"/>
                </a:solidFill>
              </a:rPr>
              <a:t>完成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069080" y="3666744"/>
            <a:ext cx="7132320" cy="493776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42232" y="3739896"/>
            <a:ext cx="6986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展示 Token 表、AST 树、错误信息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94360" y="4160520"/>
            <a:ext cx="182880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" y="423367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扩展语法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423160" y="4160520"/>
            <a:ext cx="164592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96312" y="4233672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部分完成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069080" y="4160520"/>
            <a:ext cx="713232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42232" y="4233672"/>
            <a:ext cx="6986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for / loop / 引用 / 数组 / 元组等语法支持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94360" y="4654296"/>
            <a:ext cx="1828800" cy="493776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512" y="472744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语义检查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423160" y="4654296"/>
            <a:ext cx="1645920" cy="493776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96312" y="472744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待完善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069080" y="4654296"/>
            <a:ext cx="7132320" cy="493776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42232" y="4727448"/>
            <a:ext cx="6986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变量声明、类型一致性、可变性检查未系统实现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12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完成一个可运行、可展示的分析工具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8645" y="1746504"/>
            <a:ext cx="91440" cy="91440"/>
          </a:xfrm>
          <a:prstGeom prst="ellipse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554480"/>
            <a:ext cx="6949440" cy="4667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完成词法分析、核心语法分析与 AST 输出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8645" y="2276856"/>
            <a:ext cx="91440" cy="91440"/>
          </a:xfrm>
          <a:prstGeom prst="ellipse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084832"/>
            <a:ext cx="6949440" cy="4667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提供命令行和 Web 页面两种交互方式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8645" y="2801904"/>
            <a:ext cx="91440" cy="91440"/>
          </a:xfrm>
          <a:prstGeom prst="ellipse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2609880"/>
            <a:ext cx="6949440" cy="4667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后续可补充符号表、类型检查和 Web API 自动化测试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38160" y="1417320"/>
            <a:ext cx="91440" cy="3291840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2175441"/>
            <a:ext cx="290648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497D"/>
                </a:solidFill>
              </a:rPr>
              <a:t>从源码到 Token，再到 AST 和可视化结果，项目完整贯通了编译前端的前两步。</a:t>
            </a:r>
            <a:endParaRPr lang="en-US" sz="1800" dirty="0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B18ACFD9-26E2-9157-1FAA-AE82D15EA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962554"/>
              </p:ext>
            </p:extLst>
          </p:nvPr>
        </p:nvGraphicFramePr>
        <p:xfrm>
          <a:off x="738645" y="4425330"/>
          <a:ext cx="5109952" cy="162249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554976">
                  <a:extLst>
                    <a:ext uri="{9D8B030D-6E8A-4147-A177-3AD203B41FA5}">
                      <a16:colId xmlns:a16="http://schemas.microsoft.com/office/drawing/2014/main" val="2975816472"/>
                    </a:ext>
                  </a:extLst>
                </a:gridCol>
                <a:gridCol w="2554976">
                  <a:extLst>
                    <a:ext uri="{9D8B030D-6E8A-4147-A177-3AD203B41FA5}">
                      <a16:colId xmlns:a16="http://schemas.microsoft.com/office/drawing/2014/main" val="3015388845"/>
                    </a:ext>
                  </a:extLst>
                </a:gridCol>
              </a:tblGrid>
              <a:tr h="405624">
                <a:tc>
                  <a:txBody>
                    <a:bodyPr/>
                    <a:lstStyle/>
                    <a:p>
                      <a:r>
                        <a:rPr lang="zh-CN" altLang="en-US" dirty="0"/>
                        <a:t>小组成员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分工内容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5232785"/>
                  </a:ext>
                </a:extLst>
              </a:tr>
              <a:tr h="405624">
                <a:tc>
                  <a:txBody>
                    <a:bodyPr/>
                    <a:lstStyle/>
                    <a:p>
                      <a:r>
                        <a:rPr lang="zh-CN" altLang="en-US" dirty="0"/>
                        <a:t>白佳煜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汇报撰写、</a:t>
                      </a:r>
                      <a:r>
                        <a:rPr lang="en-US" altLang="zh-CN" sz="1600" dirty="0"/>
                        <a:t>PPT</a:t>
                      </a:r>
                      <a:r>
                        <a:rPr lang="zh-CN" altLang="en-US" sz="1600" dirty="0"/>
                        <a:t>制作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1756179"/>
                  </a:ext>
                </a:extLst>
              </a:tr>
              <a:tr h="405624">
                <a:tc>
                  <a:txBody>
                    <a:bodyPr/>
                    <a:lstStyle/>
                    <a:p>
                      <a:r>
                        <a:rPr lang="zh-CN" altLang="en-US" dirty="0"/>
                        <a:t>胡桥健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前端功能开发、项目测试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7884809"/>
                  </a:ext>
                </a:extLst>
              </a:tr>
              <a:tr h="405624">
                <a:tc>
                  <a:txBody>
                    <a:bodyPr/>
                    <a:lstStyle/>
                    <a:p>
                      <a:r>
                        <a:rPr lang="zh-CN" altLang="en-US" dirty="0"/>
                        <a:t>庄子硕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词法</a:t>
                      </a:r>
                      <a:r>
                        <a:rPr lang="en-US" altLang="zh-CN" sz="1600" dirty="0"/>
                        <a:t>+</a:t>
                      </a:r>
                      <a:r>
                        <a:rPr lang="zh-CN" altLang="en-US" sz="1600" dirty="0"/>
                        <a:t>语法分析器开发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32398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D0E13-308D-0559-D944-4E86D3A14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682E042-5AC2-6E28-3755-229AF4270E95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C166DF9-18FC-13EB-238B-F326E3758D35}"/>
              </a:ext>
            </a:extLst>
          </p:cNvPr>
          <p:cNvSpPr/>
          <p:nvPr/>
        </p:nvSpPr>
        <p:spPr>
          <a:xfrm>
            <a:off x="566928" y="228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同济大学 编译原理课程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FFB8DDC-BAC8-15F3-1682-A24A6AD3F51D}"/>
              </a:ext>
            </a:extLst>
          </p:cNvPr>
          <p:cNvSpPr/>
          <p:nvPr/>
        </p:nvSpPr>
        <p:spPr>
          <a:xfrm>
            <a:off x="4407408" y="3084073"/>
            <a:ext cx="59597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4800" b="1" dirty="0">
                <a:solidFill>
                  <a:srgbClr val="1F497D"/>
                </a:solidFill>
              </a:rPr>
              <a:t>感谢观看！</a:t>
            </a:r>
            <a:endParaRPr lang="en-US" sz="4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410BA35-0541-C237-B426-730CC6236EFA}"/>
              </a:ext>
            </a:extLst>
          </p:cNvPr>
          <p:cNvSpPr/>
          <p:nvPr/>
        </p:nvSpPr>
        <p:spPr>
          <a:xfrm>
            <a:off x="4443984" y="3833881"/>
            <a:ext cx="4469902" cy="45719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C40E7DA-E3A4-C141-9214-80BCFEBCC0A1}"/>
              </a:ext>
            </a:extLst>
          </p:cNvPr>
          <p:cNvSpPr/>
          <p:nvPr/>
        </p:nvSpPr>
        <p:spPr>
          <a:xfrm>
            <a:off x="93815" y="1371600"/>
            <a:ext cx="2834640" cy="2834640"/>
          </a:xfrm>
          <a:prstGeom prst="arc">
            <a:avLst/>
          </a:prstGeom>
          <a:noFill/>
          <a:ln w="25400">
            <a:solidFill>
              <a:srgbClr val="4F81BD">
                <a:alpha val="75000"/>
              </a:srgbClr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C39C566-D633-1AE1-9D00-92FF99F47EEA}"/>
              </a:ext>
            </a:extLst>
          </p:cNvPr>
          <p:cNvSpPr/>
          <p:nvPr/>
        </p:nvSpPr>
        <p:spPr>
          <a:xfrm>
            <a:off x="-217081" y="1069848"/>
            <a:ext cx="3438144" cy="3438144"/>
          </a:xfrm>
          <a:prstGeom prst="arc">
            <a:avLst/>
          </a:prstGeom>
          <a:noFill/>
          <a:ln w="16510">
            <a:solidFill>
              <a:srgbClr val="4BACC6">
                <a:alpha val="65000"/>
              </a:srgbClr>
            </a:solidFill>
            <a:prstDash val="solid"/>
            <a:headEnd type="none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E10B377-A227-BF20-DCFE-CC99F5C9E96D}"/>
              </a:ext>
            </a:extLst>
          </p:cNvPr>
          <p:cNvSpPr/>
          <p:nvPr/>
        </p:nvSpPr>
        <p:spPr>
          <a:xfrm>
            <a:off x="505295" y="195681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854A0"/>
                </a:solidFill>
              </a:rPr>
              <a:t>{ }</a:t>
            </a:r>
            <a:endParaRPr lang="en-US" sz="4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78E6FE7-375B-303B-5C7E-C7B0C472A869}"/>
              </a:ext>
            </a:extLst>
          </p:cNvPr>
          <p:cNvSpPr/>
          <p:nvPr/>
        </p:nvSpPr>
        <p:spPr>
          <a:xfrm>
            <a:off x="322415" y="2916936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Token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AST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Web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242454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791</Words>
  <Application>Microsoft Office PowerPoint</Application>
  <PresentationFormat>宽屏</PresentationFormat>
  <Paragraphs>281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同济大学 编译原理课程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类 Rust 词法和语法分析工具设计与实现</dc:title>
  <dc:subject>类 Rust 词法和语法分析工具设计与实现</dc:subject>
  <dc:creator>TJ_CompileTheory</dc:creator>
  <cp:lastModifiedBy>佳煜 白</cp:lastModifiedBy>
  <cp:revision>15</cp:revision>
  <dcterms:created xsi:type="dcterms:W3CDTF">2026-05-14T02:58:19Z</dcterms:created>
  <dcterms:modified xsi:type="dcterms:W3CDTF">2026-05-19T02:54:25Z</dcterms:modified>
</cp:coreProperties>
</file>